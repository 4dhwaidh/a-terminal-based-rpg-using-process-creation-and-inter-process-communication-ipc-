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13"/>
  </p:notesMasterIdLst>
  <p:sldIdLst>
    <p:sldId id="278" r:id="rId5"/>
    <p:sldId id="280" r:id="rId6"/>
    <p:sldId id="287" r:id="rId7"/>
    <p:sldId id="282" r:id="rId8"/>
    <p:sldId id="295" r:id="rId9"/>
    <p:sldId id="288" r:id="rId10"/>
    <p:sldId id="294" r:id="rId11"/>
    <p:sldId id="286"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4EDD8"/>
    <a:srgbClr val="FEF7A0"/>
    <a:srgbClr val="D9D4C4"/>
    <a:srgbClr val="F2EBD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19" autoAdjust="0"/>
  </p:normalViewPr>
  <p:slideViewPr>
    <p:cSldViewPr snapToGrid="0">
      <p:cViewPr varScale="1">
        <p:scale>
          <a:sx n="80" d="100"/>
          <a:sy n="80" d="100"/>
        </p:scale>
        <p:origin x="782"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FD01546-198A-4195-BCF8-F0FF54C90E5E}" type="datetimeFigureOut">
              <a:rPr lang="en-US" smtClean="0"/>
              <a:t>10/6/2025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E6DE88F-1F85-4A27-9D34-D74A50E7B0DA}" type="slidenum">
              <a:rPr lang="en-US" smtClean="0"/>
              <a:t>‹#›</a:t>
            </a:fld>
            <a:endParaRPr lang="en-US" dirty="0"/>
          </a:p>
        </p:txBody>
      </p:sp>
    </p:spTree>
    <p:extLst>
      <p:ext uri="{BB962C8B-B14F-4D97-AF65-F5344CB8AC3E}">
        <p14:creationId xmlns:p14="http://schemas.microsoft.com/office/powerpoint/2010/main" val="37300918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70693" y="1769540"/>
            <a:ext cx="9440034" cy="1828801"/>
          </a:xfrm>
        </p:spPr>
        <p:txBody>
          <a:bodyPr anchor="b">
            <a:normAutofit/>
          </a:bodyPr>
          <a:lstStyle>
            <a:lvl1pPr algn="ctr">
              <a:defRPr sz="5400"/>
            </a:lvl1pPr>
          </a:lstStyle>
          <a:p>
            <a:r>
              <a:rPr lang="en-US"/>
              <a:t>Click to edit Master title style</a:t>
            </a:r>
            <a:endParaRPr lang="en-US" dirty="0"/>
          </a:p>
        </p:txBody>
      </p:sp>
      <p:sp>
        <p:nvSpPr>
          <p:cNvPr id="3" name="Subtitle 2"/>
          <p:cNvSpPr>
            <a:spLocks noGrp="1"/>
          </p:cNvSpPr>
          <p:nvPr>
            <p:ph type="subTitle" idx="1"/>
          </p:nvPr>
        </p:nvSpPr>
        <p:spPr>
          <a:xfrm>
            <a:off x="1370693" y="3773489"/>
            <a:ext cx="9440034"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8D38747-4367-4BD2-8D51-C97E202738E2}" type="datetime1">
              <a:rPr lang="en-US" smtClean="0"/>
              <a:t>10/6/2025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21507467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C55A3C-5767-4844-A0A3-83778C2E5409}" type="datetime1">
              <a:rPr lang="en-US" smtClean="0"/>
              <a:t>10/6/2025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1548654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95401" y="1761067"/>
            <a:ext cx="9590550" cy="1828813"/>
          </a:xfrm>
        </p:spPr>
        <p:txBody>
          <a:bodyPr anchor="b"/>
          <a:lstStyle>
            <a:lvl1pPr algn="ct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3763439"/>
            <a:ext cx="9590550" cy="133349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AE507A8-A5CF-4D38-AB86-7EDDA87A85D4}" type="datetime1">
              <a:rPr lang="en-US" smtClean="0"/>
              <a:t>10/6/2025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846401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126187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2076450"/>
            <a:ext cx="4856841" cy="3622671"/>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0716" y="2076451"/>
            <a:ext cx="4856841" cy="3622672"/>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DFCD27C-8599-43EF-BA1D-14DDC1946E06}" type="datetime1">
              <a:rPr lang="en-US" smtClean="0"/>
              <a:t>10/6/2025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9882058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20" name="Picture 19" descr="Slate-V2-HD-compPhotoInset.png">
            <a:extLst>
              <a:ext uri="{FF2B5EF4-FFF2-40B4-BE49-F238E27FC236}">
                <a16:creationId xmlns:a16="http://schemas.microsoft.com/office/drawing/2014/main" id="{37B721FF-D609-4D98-9D19-CF75AA8A54F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95" y="1734506"/>
            <a:ext cx="5029200" cy="4099959"/>
          </a:xfrm>
          <a:prstGeom prst="rect">
            <a:avLst/>
          </a:prstGeom>
        </p:spPr>
      </p:pic>
      <p:pic>
        <p:nvPicPr>
          <p:cNvPr id="21" name="Picture 20" descr="Slate-V2-HD-compPhotoInset.png">
            <a:extLst>
              <a:ext uri="{FF2B5EF4-FFF2-40B4-BE49-F238E27FC236}">
                <a16:creationId xmlns:a16="http://schemas.microsoft.com/office/drawing/2014/main" id="{073936BD-C868-433F-8E84-D6DD8E640E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38357" y="1734506"/>
            <a:ext cx="5029200" cy="4099959"/>
          </a:xfrm>
          <a:prstGeom prst="rect">
            <a:avLst/>
          </a:prstGeom>
        </p:spPr>
      </p:pic>
      <p:sp>
        <p:nvSpPr>
          <p:cNvPr id="2" name="Title 1"/>
          <p:cNvSpPr>
            <a:spLocks noGrp="1"/>
          </p:cNvSpPr>
          <p:nvPr>
            <p:ph type="title"/>
          </p:nvPr>
        </p:nvSpPr>
        <p:spPr>
          <a:xfrm>
            <a:off x="913795" y="609600"/>
            <a:ext cx="10353762" cy="97045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046013" y="1855153"/>
            <a:ext cx="4764764" cy="69249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46013" y="2702103"/>
            <a:ext cx="4764764" cy="304353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63166" y="1855152"/>
            <a:ext cx="4779582" cy="692495"/>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63167" y="2702103"/>
            <a:ext cx="4779581" cy="304353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9343D99-809A-49C0-96E5-4250D0B498EE}" type="datetime1">
              <a:rPr lang="en-US" smtClean="0"/>
              <a:t>10/6/2025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2351203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143DE9B-B678-4EFB-BB7D-A4370204A0B0}" type="datetime1">
              <a:rPr lang="en-US" smtClean="0"/>
              <a:t>10/6/2025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290940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68812DA-F765-4142-A6A3-A8ED7235E082}" type="datetime1">
              <a:rPr lang="en-US" smtClean="0"/>
              <a:t>10/6/2025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6551302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3706889" cy="1821918"/>
          </a:xfrm>
        </p:spPr>
        <p:txBody>
          <a:bodyPr anchor="b">
            <a:normAutofit/>
          </a:bodyPr>
          <a:lstStyle>
            <a:lvl1pPr algn="ctr">
              <a:defRPr sz="2800" b="0"/>
            </a:lvl1pPr>
          </a:lstStyle>
          <a:p>
            <a:r>
              <a:rPr lang="en-US"/>
              <a:t>Click to edit Master title style</a:t>
            </a:r>
            <a:endParaRPr lang="en-US" dirty="0"/>
          </a:p>
        </p:txBody>
      </p:sp>
      <p:sp>
        <p:nvSpPr>
          <p:cNvPr id="3" name="Content Placeholder 2"/>
          <p:cNvSpPr>
            <a:spLocks noGrp="1"/>
          </p:cNvSpPr>
          <p:nvPr>
            <p:ph idx="1"/>
          </p:nvPr>
        </p:nvSpPr>
        <p:spPr>
          <a:xfrm>
            <a:off x="4855633" y="609600"/>
            <a:ext cx="6411924" cy="50800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95" y="2673351"/>
            <a:ext cx="3706889" cy="3016250"/>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E0277FD-7DE6-41D4-930D-AC99F5AFE54E}" type="datetime1">
              <a:rPr lang="en-US" smtClean="0"/>
              <a:t>10/6/2025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7935569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22" name="Picture 21" descr="Slate-V2-HD-vertPhotoInset.png">
            <a:extLst>
              <a:ext uri="{FF2B5EF4-FFF2-40B4-BE49-F238E27FC236}">
                <a16:creationId xmlns:a16="http://schemas.microsoft.com/office/drawing/2014/main" id="{4D06E496-ACBA-4063-B4A1-C5C484EE5A7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3665" y="609600"/>
            <a:ext cx="3584166" cy="5204832"/>
          </a:xfrm>
          <a:prstGeom prst="rect">
            <a:avLst/>
          </a:prstGeom>
        </p:spPr>
      </p:pic>
      <p:sp>
        <p:nvSpPr>
          <p:cNvPr id="2" name="Title 1"/>
          <p:cNvSpPr>
            <a:spLocks noGrp="1"/>
          </p:cNvSpPr>
          <p:nvPr>
            <p:ph type="title"/>
          </p:nvPr>
        </p:nvSpPr>
        <p:spPr>
          <a:xfrm>
            <a:off x="913795" y="763701"/>
            <a:ext cx="5707899" cy="1675559"/>
          </a:xfrm>
        </p:spPr>
        <p:txBody>
          <a:bodyPr anchor="b">
            <a:noAutofit/>
          </a:bodyPr>
          <a:lstStyle>
            <a:lvl1pPr algn="ct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42551" y="763702"/>
            <a:ext cx="3275751"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73698" y="2679699"/>
            <a:ext cx="4588094" cy="3135695"/>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EA15526-7079-4B7B-987C-1B5FAE11A0FF}" type="datetime1">
              <a:rPr lang="en-US" smtClean="0"/>
              <a:t>10/6/2025</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530567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6" name="Picture 15" descr="Slate-V2-HD-panoPhotoInset.png">
            <a:extLst>
              <a:ext uri="{FF2B5EF4-FFF2-40B4-BE49-F238E27FC236}">
                <a16:creationId xmlns:a16="http://schemas.microsoft.com/office/drawing/2014/main" id="{CE39118B-B3AD-4BD4-BA22-DEFF4E76CE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883" y="547807"/>
            <a:ext cx="10141799" cy="3816806"/>
          </a:xfrm>
          <a:prstGeom prst="rect">
            <a:avLst/>
          </a:prstGeom>
        </p:spPr>
      </p:pic>
      <p:sp>
        <p:nvSpPr>
          <p:cNvPr id="2" name="Title 1"/>
          <p:cNvSpPr>
            <a:spLocks noGrp="1"/>
          </p:cNvSpPr>
          <p:nvPr>
            <p:ph type="title"/>
          </p:nvPr>
        </p:nvSpPr>
        <p:spPr>
          <a:xfrm>
            <a:off x="913806" y="4565255"/>
            <a:ext cx="10355326" cy="543472"/>
          </a:xfrm>
        </p:spPr>
        <p:txBody>
          <a:bodyPr anchor="b">
            <a:normAutofit/>
          </a:bodyPr>
          <a:lstStyle>
            <a:lvl1pPr algn="ct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69349" y="695009"/>
            <a:ext cx="9845346"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247728"/>
            <a:ext cx="10353762" cy="543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1F1B079-7EF0-44EE-B798-BCC497C9F3B2}" type="datetime1">
              <a:rPr lang="en-US" smtClean="0"/>
              <a:t>10/6/2025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0095022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8437"/>
            <a:ext cx="10353762" cy="3534344"/>
          </a:xfrm>
        </p:spPr>
        <p:txBody>
          <a:bodyPr anchor="ctr">
            <a:normAutofit/>
          </a:bodyPr>
          <a:lstStyle>
            <a:lvl1pPr>
              <a:defRPr sz="4000"/>
            </a:lvl1pPr>
          </a:lstStyle>
          <a:p>
            <a:r>
              <a:rPr lang="en-US"/>
              <a:t>Click to edit Master title style</a:t>
            </a:r>
            <a:endParaRPr lang="en-US" dirty="0"/>
          </a:p>
        </p:txBody>
      </p:sp>
      <p:sp>
        <p:nvSpPr>
          <p:cNvPr id="4" name="Text Placeholder 3"/>
          <p:cNvSpPr>
            <a:spLocks noGrp="1"/>
          </p:cNvSpPr>
          <p:nvPr>
            <p:ph type="body" sz="half" idx="2"/>
          </p:nvPr>
        </p:nvSpPr>
        <p:spPr>
          <a:xfrm>
            <a:off x="913794" y="4295180"/>
            <a:ext cx="10353763"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8FF70A8-1D13-4657-95F0-A9EA54967B8D}" type="datetime1">
              <a:rPr lang="en-US" smtClean="0"/>
              <a:t>10/6/2025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053850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304353"/>
            <a:ext cx="10353763"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1EB90AC-71BD-4C7F-8ACA-7B3F18292E63}" type="datetime1">
              <a:rPr lang="en-US" smtClean="0"/>
              <a:t>10/6/2025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
        <p:nvSpPr>
          <p:cNvPr id="11" name="TextBox 10">
            <a:extLst>
              <a:ext uri="{FF2B5EF4-FFF2-40B4-BE49-F238E27FC236}">
                <a16:creationId xmlns:a16="http://schemas.microsoft.com/office/drawing/2014/main" id="{223F0D53-0705-41B7-8554-09D21E7807F9}"/>
              </a:ext>
            </a:extLst>
          </p:cNvPr>
          <p:cNvSpPr txBox="1"/>
          <p:nvPr/>
        </p:nvSpPr>
        <p:spPr>
          <a:xfrm>
            <a:off x="990600" y="88479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a:extLst>
              <a:ext uri="{FF2B5EF4-FFF2-40B4-BE49-F238E27FC236}">
                <a16:creationId xmlns:a16="http://schemas.microsoft.com/office/drawing/2014/main" id="{C7F647CD-0F1A-4BB3-89E0-A74F1E1B098D}"/>
              </a:ext>
            </a:extLst>
          </p:cNvPr>
          <p:cNvSpPr txBox="1"/>
          <p:nvPr/>
        </p:nvSpPr>
        <p:spPr>
          <a:xfrm>
            <a:off x="10504716" y="292825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7752911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794" y="2126942"/>
            <a:ext cx="10353763"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84" y="4650556"/>
            <a:ext cx="1035219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E6EFC2C-8905-46F0-B443-CE905B76BA01}" type="datetime1">
              <a:rPr lang="en-US" smtClean="0"/>
              <a:t>10/6/2025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3450925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5" y="609600"/>
            <a:ext cx="10353762" cy="970450"/>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5" y="1885950"/>
            <a:ext cx="3300984" cy="764782"/>
          </a:xfrm>
        </p:spPr>
        <p:txBody>
          <a:bodyPr anchor="b">
            <a:noAutofit/>
          </a:bodyPr>
          <a:lstStyle>
            <a:lvl1pPr marL="0" indent="0" algn="ctr">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5" y="2768112"/>
            <a:ext cx="3300984" cy="302308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6711" y="1885949"/>
            <a:ext cx="3300984" cy="764783"/>
          </a:xfrm>
        </p:spPr>
        <p:txBody>
          <a:bodyPr anchor="b">
            <a:noAutofit/>
          </a:bodyPr>
          <a:lstStyle>
            <a:lvl1pPr marL="0" indent="0" algn="ctr">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435" y="2768112"/>
            <a:ext cx="3300984" cy="302308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66572" y="1885950"/>
            <a:ext cx="3300984" cy="764782"/>
          </a:xfrm>
        </p:spPr>
        <p:txBody>
          <a:bodyPr anchor="b">
            <a:noAutofit/>
          </a:bodyPr>
          <a:lstStyle>
            <a:lvl1pPr marL="0" indent="0" algn="ctr">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66572" y="2768110"/>
            <a:ext cx="3300984" cy="302308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D9079DC3-C9B5-499E-9140-0DC28B7074E2}" type="datetime1">
              <a:rPr lang="en-US" smtClean="0"/>
              <a:t>10/6/2025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03264781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2" name="Picture 1" descr="Slate-V2-HD-3colPhotoInset.png">
            <a:extLst>
              <a:ext uri="{FF2B5EF4-FFF2-40B4-BE49-F238E27FC236}">
                <a16:creationId xmlns:a16="http://schemas.microsoft.com/office/drawing/2014/main" id="{7E87C569-D426-4615-ADA7-B370EA9834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962" y="1818214"/>
            <a:ext cx="3339972" cy="1847851"/>
          </a:xfrm>
          <a:prstGeom prst="rect">
            <a:avLst/>
          </a:prstGeom>
        </p:spPr>
      </p:pic>
      <p:pic>
        <p:nvPicPr>
          <p:cNvPr id="36" name="Picture 35" descr="Slate-V2-HD-3colPhotoInset.png">
            <a:extLst>
              <a:ext uri="{FF2B5EF4-FFF2-40B4-BE49-F238E27FC236}">
                <a16:creationId xmlns:a16="http://schemas.microsoft.com/office/drawing/2014/main" id="{7B353ED4-7AD0-46C9-88ED-1A16B1433A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3800" y="1818214"/>
            <a:ext cx="3339972" cy="1847851"/>
          </a:xfrm>
          <a:prstGeom prst="rect">
            <a:avLst/>
          </a:prstGeom>
        </p:spPr>
      </p:pic>
      <p:pic>
        <p:nvPicPr>
          <p:cNvPr id="37" name="Picture 36" descr="Slate-V2-HD-3colPhotoInset.png">
            <a:extLst>
              <a:ext uri="{FF2B5EF4-FFF2-40B4-BE49-F238E27FC236}">
                <a16:creationId xmlns:a16="http://schemas.microsoft.com/office/drawing/2014/main" id="{F561D985-AD57-459A-B3A6-EBF29603976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6051" y="1818214"/>
            <a:ext cx="3339972" cy="1847851"/>
          </a:xfrm>
          <a:prstGeom prst="rect">
            <a:avLst/>
          </a:prstGeom>
        </p:spPr>
      </p:pic>
      <p:sp>
        <p:nvSpPr>
          <p:cNvPr id="30" name="Title 1"/>
          <p:cNvSpPr>
            <a:spLocks noGrp="1"/>
          </p:cNvSpPr>
          <p:nvPr>
            <p:ph type="title"/>
          </p:nvPr>
        </p:nvSpPr>
        <p:spPr>
          <a:xfrm>
            <a:off x="913794" y="609600"/>
            <a:ext cx="10353763" cy="97045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18102" y="1938918"/>
            <a:ext cx="3092368"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572443"/>
            <a:ext cx="3300984" cy="121875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88"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45743" y="1939094"/>
            <a:ext cx="3092368"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435" y="4572442"/>
            <a:ext cx="3300984" cy="121875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66697"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75698" y="1934432"/>
            <a:ext cx="3092368"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66572" y="4572442"/>
            <a:ext cx="3300984" cy="121875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30BB33EA-E472-4D22-9C03-A9C14AA21CED}" type="datetime1">
              <a:rPr lang="en-US" smtClean="0"/>
              <a:t>10/6/2025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7932546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2" cy="125730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2076450"/>
            <a:ext cx="10353762" cy="3714749"/>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6000749"/>
            <a:ext cx="2743200" cy="365125"/>
          </a:xfrm>
          <a:prstGeom prst="rect">
            <a:avLst/>
          </a:prstGeom>
        </p:spPr>
        <p:txBody>
          <a:bodyPr vert="horz" lIns="91440" tIns="45720" rIns="91440" bIns="45720" rtlCol="0" anchor="ctr"/>
          <a:lstStyle>
            <a:lvl1pPr algn="r">
              <a:defRPr sz="1100">
                <a:solidFill>
                  <a:schemeClr val="tx1">
                    <a:lumMod val="95000"/>
                  </a:schemeClr>
                </a:solidFill>
                <a:effectLst>
                  <a:outerShdw blurRad="50800" dist="38100" dir="2700000" algn="tl" rotWithShape="0">
                    <a:schemeClr val="bg1">
                      <a:alpha val="43000"/>
                    </a:schemeClr>
                  </a:outerShdw>
                </a:effectLst>
              </a:defRPr>
            </a:lvl1pPr>
          </a:lstStyle>
          <a:p>
            <a:fld id="{073ED0CC-082F-4160-86E5-0D6041F12778}" type="datetime1">
              <a:rPr lang="en-US" smtClean="0"/>
              <a:t>10/6/2025</a:t>
            </a:fld>
            <a:endParaRPr lang="en-US" dirty="0"/>
          </a:p>
        </p:txBody>
      </p:sp>
      <p:sp>
        <p:nvSpPr>
          <p:cNvPr id="5" name="Footer Placeholder 4"/>
          <p:cNvSpPr>
            <a:spLocks noGrp="1"/>
          </p:cNvSpPr>
          <p:nvPr>
            <p:ph type="ftr" sz="quarter" idx="3"/>
          </p:nvPr>
        </p:nvSpPr>
        <p:spPr>
          <a:xfrm>
            <a:off x="913795" y="6000749"/>
            <a:ext cx="6672865" cy="365125"/>
          </a:xfrm>
          <a:prstGeom prst="rect">
            <a:avLst/>
          </a:prstGeom>
        </p:spPr>
        <p:txBody>
          <a:bodyPr vert="horz" lIns="91440" tIns="45720" rIns="91440" bIns="45720" rtlCol="0" anchor="ctr"/>
          <a:lstStyle>
            <a:lvl1pPr algn="l">
              <a:defRPr sz="1100">
                <a:solidFill>
                  <a:schemeClr val="tx1">
                    <a:lumMod val="95000"/>
                  </a:schemeClr>
                </a:solidFill>
                <a:effectLst>
                  <a:outerShdw blurRad="50800" dist="38100" dir="2700000" algn="tl" rotWithShape="0">
                    <a:schemeClr val="bg1">
                      <a:alpha val="43000"/>
                    </a:schemeClr>
                  </a:outerShdw>
                </a:effectLst>
              </a:defRPr>
            </a:lvl1pPr>
          </a:lstStyle>
          <a:p>
            <a:endParaRPr lang="en-US" dirty="0"/>
          </a:p>
        </p:txBody>
      </p:sp>
      <p:sp>
        <p:nvSpPr>
          <p:cNvPr id="6" name="Slide Number Placeholder 5"/>
          <p:cNvSpPr>
            <a:spLocks noGrp="1"/>
          </p:cNvSpPr>
          <p:nvPr>
            <p:ph type="sldNum" sz="quarter" idx="4"/>
          </p:nvPr>
        </p:nvSpPr>
        <p:spPr>
          <a:xfrm>
            <a:off x="10514011" y="6000749"/>
            <a:ext cx="753545" cy="365125"/>
          </a:xfrm>
          <a:prstGeom prst="rect">
            <a:avLst/>
          </a:prstGeom>
        </p:spPr>
        <p:txBody>
          <a:bodyPr vert="horz" lIns="91440" tIns="45720" rIns="91440" bIns="45720" rtlCol="0" anchor="ctr"/>
          <a:lstStyle>
            <a:lvl1pPr algn="r">
              <a:defRPr sz="1100">
                <a:solidFill>
                  <a:schemeClr val="tx1">
                    <a:lumMod val="95000"/>
                  </a:schemeClr>
                </a:solidFill>
                <a:effectLst>
                  <a:outerShdw blurRad="50800" dist="38100" dir="2700000" algn="tl" rotWithShape="0">
                    <a:schemeClr val="bg1">
                      <a:alpha val="43000"/>
                    </a:schemeClr>
                  </a:outerShdw>
                </a:effectLst>
              </a:defRPr>
            </a:lvl1pPr>
          </a:lstStyle>
          <a:p>
            <a:fld id="{3A98EE3D-8CD1-4C3F-BD1C-C98C9596463C}" type="slidenum">
              <a:rPr lang="en-US" smtClean="0"/>
              <a:t>‹#›</a:t>
            </a:fld>
            <a:endParaRPr lang="en-US" dirty="0"/>
          </a:p>
        </p:txBody>
      </p:sp>
    </p:spTree>
    <p:extLst>
      <p:ext uri="{BB962C8B-B14F-4D97-AF65-F5344CB8AC3E}">
        <p14:creationId xmlns:p14="http://schemas.microsoft.com/office/powerpoint/2010/main" val="1858978357"/>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Lst>
  <p:hf sldNum="0" hdr="0" ftr="0" dt="0"/>
  <p:txStyles>
    <p:titleStyle>
      <a:lvl1pPr algn="ctr" defTabSz="457200" rtl="0" eaLnBrk="1" latinLnBrk="0" hangingPunct="1">
        <a:lnSpc>
          <a:spcPct val="90000"/>
        </a:lnSpc>
        <a:spcBef>
          <a:spcPct val="0"/>
        </a:spcBef>
        <a:buNone/>
        <a:defRPr sz="4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lnSpc>
          <a:spcPct val="110000"/>
        </a:lnSpc>
        <a:spcBef>
          <a:spcPct val="20000"/>
        </a:spcBef>
        <a:spcAft>
          <a:spcPts val="600"/>
        </a:spcAft>
        <a:buClr>
          <a:schemeClr val="tx2"/>
        </a:buClr>
        <a:buSzPct val="70000"/>
        <a:buFont typeface="Wingdings 2" charset="2"/>
        <a:buChar char=""/>
        <a:defRPr sz="23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21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1.xml"/><Relationship Id="rId1" Type="http://schemas.openxmlformats.org/officeDocument/2006/relationships/themeOverride" Target="../theme/themeOverride1.xml"/><Relationship Id="rId4" Type="http://schemas.openxmlformats.org/officeDocument/2006/relationships/image" Target="../media/image6.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1">
                <a:shade val="80000"/>
                <a:lumMod val="80000"/>
              </a:schemeClr>
              <a:schemeClr val="bg1">
                <a:tint val="98000"/>
              </a:schemeClr>
            </a:duotone>
          </a:blip>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8A1C807-B9AD-4C9B-BF9F-60F03428998E}"/>
              </a:ext>
              <a:ext uri="{C183D7F6-B498-43B3-948B-1728B52AA6E4}">
                <adec:decorative xmlns:adec="http://schemas.microsoft.com/office/drawing/2017/decorative" val="1"/>
              </a:ext>
            </a:extLst>
          </p:cNvPr>
          <p:cNvPicPr>
            <a:picLocks noChangeAspect="1"/>
          </p:cNvPicPr>
          <p:nvPr/>
        </p:nvPicPr>
        <p:blipFill rotWithShape="1">
          <a:blip r:embed="rId4">
            <a:extLst>
              <a:ext uri="{28A0092B-C50C-407E-A947-70E740481C1C}">
                <a14:useLocalDpi xmlns:a14="http://schemas.microsoft.com/office/drawing/2010/main" val="0"/>
              </a:ext>
            </a:extLst>
          </a:blip>
          <a:srcRect/>
          <a:stretch/>
        </p:blipFill>
        <p:spPr>
          <a:xfrm>
            <a:off x="0" y="11"/>
            <a:ext cx="12192000" cy="6857989"/>
          </a:xfrm>
          <a:prstGeom prst="rect">
            <a:avLst/>
          </a:prstGeom>
        </p:spPr>
      </p:pic>
      <p:sp useBgFill="1">
        <p:nvSpPr>
          <p:cNvPr id="103" name="Freeform 5">
            <a:extLst>
              <a:ext uri="{FF2B5EF4-FFF2-40B4-BE49-F238E27FC236}">
                <a16:creationId xmlns:a16="http://schemas.microsoft.com/office/drawing/2014/main" id="{FE469E50-3893-4ED6-92BA-2985C32B0C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rot="5400000">
            <a:off x="7131809" y="1385982"/>
            <a:ext cx="4031414" cy="4100418"/>
          </a:xfrm>
          <a:custGeom>
            <a:avLst/>
            <a:gdLst>
              <a:gd name="T0" fmla="*/ 1577 w 1601"/>
              <a:gd name="T1" fmla="*/ 0 h 696"/>
              <a:gd name="T2" fmla="*/ 833 w 1601"/>
              <a:gd name="T3" fmla="*/ 0 h 696"/>
              <a:gd name="T4" fmla="*/ 768 w 1601"/>
              <a:gd name="T5" fmla="*/ 0 h 696"/>
              <a:gd name="T6" fmla="*/ 24 w 1601"/>
              <a:gd name="T7" fmla="*/ 0 h 696"/>
              <a:gd name="T8" fmla="*/ 0 w 1601"/>
              <a:gd name="T9" fmla="*/ 27 h 696"/>
              <a:gd name="T10" fmla="*/ 0 w 1601"/>
              <a:gd name="T11" fmla="*/ 669 h 696"/>
              <a:gd name="T12" fmla="*/ 24 w 1601"/>
              <a:gd name="T13" fmla="*/ 696 h 696"/>
              <a:gd name="T14" fmla="*/ 768 w 1601"/>
              <a:gd name="T15" fmla="*/ 696 h 696"/>
              <a:gd name="T16" fmla="*/ 833 w 1601"/>
              <a:gd name="T17" fmla="*/ 696 h 696"/>
              <a:gd name="T18" fmla="*/ 1577 w 1601"/>
              <a:gd name="T19" fmla="*/ 696 h 696"/>
              <a:gd name="T20" fmla="*/ 1601 w 1601"/>
              <a:gd name="T21" fmla="*/ 669 h 696"/>
              <a:gd name="T22" fmla="*/ 1601 w 1601"/>
              <a:gd name="T23" fmla="*/ 27 h 696"/>
              <a:gd name="T24" fmla="*/ 1577 w 1601"/>
              <a:gd name="T25" fmla="*/ 0 h 6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01" h="696">
                <a:moveTo>
                  <a:pt x="1577" y="0"/>
                </a:moveTo>
                <a:cubicBezTo>
                  <a:pt x="833" y="0"/>
                  <a:pt x="833" y="0"/>
                  <a:pt x="833" y="0"/>
                </a:cubicBezTo>
                <a:cubicBezTo>
                  <a:pt x="768" y="0"/>
                  <a:pt x="768" y="0"/>
                  <a:pt x="768" y="0"/>
                </a:cubicBezTo>
                <a:cubicBezTo>
                  <a:pt x="24" y="0"/>
                  <a:pt x="24" y="0"/>
                  <a:pt x="24" y="0"/>
                </a:cubicBezTo>
                <a:cubicBezTo>
                  <a:pt x="11" y="0"/>
                  <a:pt x="0" y="12"/>
                  <a:pt x="0" y="27"/>
                </a:cubicBezTo>
                <a:cubicBezTo>
                  <a:pt x="0" y="669"/>
                  <a:pt x="0" y="669"/>
                  <a:pt x="0" y="669"/>
                </a:cubicBezTo>
                <a:cubicBezTo>
                  <a:pt x="0" y="684"/>
                  <a:pt x="11" y="696"/>
                  <a:pt x="24" y="696"/>
                </a:cubicBezTo>
                <a:cubicBezTo>
                  <a:pt x="768" y="696"/>
                  <a:pt x="768" y="696"/>
                  <a:pt x="768" y="696"/>
                </a:cubicBezTo>
                <a:cubicBezTo>
                  <a:pt x="833" y="696"/>
                  <a:pt x="833" y="696"/>
                  <a:pt x="833" y="696"/>
                </a:cubicBezTo>
                <a:cubicBezTo>
                  <a:pt x="1577" y="696"/>
                  <a:pt x="1577" y="696"/>
                  <a:pt x="1577" y="696"/>
                </a:cubicBezTo>
                <a:cubicBezTo>
                  <a:pt x="1590" y="696"/>
                  <a:pt x="1601" y="684"/>
                  <a:pt x="1601" y="669"/>
                </a:cubicBezTo>
                <a:cubicBezTo>
                  <a:pt x="1601" y="27"/>
                  <a:pt x="1601" y="27"/>
                  <a:pt x="1601" y="27"/>
                </a:cubicBezTo>
                <a:cubicBezTo>
                  <a:pt x="1601" y="12"/>
                  <a:pt x="1590" y="0"/>
                  <a:pt x="1577" y="0"/>
                </a:cubicBezTo>
                <a:close/>
              </a:path>
            </a:pathLst>
          </a:custGeom>
          <a:ln>
            <a:noFill/>
          </a:ln>
          <a:effectLst>
            <a:outerShdw blurRad="50800" dist="38100" dir="5400000" algn="tl" rotWithShape="0">
              <a:srgbClr val="000000">
                <a:alpha val="43000"/>
              </a:srgbClr>
            </a:outerShdw>
          </a:effectLst>
          <a:extLst>
            <a:ext uri="{91240B29-F687-4f45-9708-019B960494DF}">
              <a14:hiddenLine xmlns="" xmlns:a14="http://schemas.microsoft.com/office/drawing/2010/main" xmlns:p14="http://schemas.microsoft.com/office/powerpoint/2010/main" xmlns:a16="http://schemas.microsoft.com/office/drawing/2014/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Goudy Old Style"/>
              <a:ea typeface="+mn-ea"/>
              <a:cs typeface="+mn-cs"/>
            </a:endParaRPr>
          </a:p>
        </p:txBody>
      </p:sp>
      <p:sp>
        <p:nvSpPr>
          <p:cNvPr id="2" name="Title 1">
            <a:extLst>
              <a:ext uri="{FF2B5EF4-FFF2-40B4-BE49-F238E27FC236}">
                <a16:creationId xmlns:a16="http://schemas.microsoft.com/office/drawing/2014/main" id="{0D1F047C-C727-42A7-85C5-68C5AA1B1A93}"/>
              </a:ext>
            </a:extLst>
          </p:cNvPr>
          <p:cNvSpPr>
            <a:spLocks noGrp="1"/>
          </p:cNvSpPr>
          <p:nvPr>
            <p:ph type="ctrTitle"/>
          </p:nvPr>
        </p:nvSpPr>
        <p:spPr>
          <a:xfrm>
            <a:off x="7325907" y="570346"/>
            <a:ext cx="4742268" cy="2420504"/>
          </a:xfrm>
        </p:spPr>
        <p:txBody>
          <a:bodyPr>
            <a:normAutofit/>
          </a:bodyPr>
          <a:lstStyle/>
          <a:p>
            <a:pPr algn="l"/>
            <a:r>
              <a:rPr lang="en-IN" sz="4000" b="1" i="1" dirty="0"/>
              <a:t>Terminal Based Process RPG</a:t>
            </a:r>
            <a:endParaRPr lang="en-US" sz="4000" dirty="0"/>
          </a:p>
        </p:txBody>
      </p:sp>
      <p:sp>
        <p:nvSpPr>
          <p:cNvPr id="3" name="Subtitle 2">
            <a:extLst>
              <a:ext uri="{FF2B5EF4-FFF2-40B4-BE49-F238E27FC236}">
                <a16:creationId xmlns:a16="http://schemas.microsoft.com/office/drawing/2014/main" id="{DB93FB3F-A8D4-46D3-A1C6-C79C64563729}"/>
              </a:ext>
            </a:extLst>
          </p:cNvPr>
          <p:cNvSpPr>
            <a:spLocks noGrp="1"/>
          </p:cNvSpPr>
          <p:nvPr>
            <p:ph type="subTitle" idx="1"/>
          </p:nvPr>
        </p:nvSpPr>
        <p:spPr>
          <a:xfrm>
            <a:off x="7157911" y="3176588"/>
            <a:ext cx="3979210" cy="1628775"/>
          </a:xfrm>
        </p:spPr>
        <p:txBody>
          <a:bodyPr>
            <a:normAutofit/>
          </a:bodyPr>
          <a:lstStyle/>
          <a:p>
            <a:pPr algn="l"/>
            <a:r>
              <a:rPr lang="en-US" sz="2300" dirty="0"/>
              <a:t>Group 15:</a:t>
            </a:r>
          </a:p>
          <a:p>
            <a:pPr marL="342900" indent="-342900" algn="l">
              <a:buAutoNum type="arabicParenR"/>
            </a:pPr>
            <a:r>
              <a:rPr lang="en-US" sz="1500" dirty="0"/>
              <a:t>Sarvesh Ram Kumar – CB.SC.U4AIE24048</a:t>
            </a:r>
          </a:p>
          <a:p>
            <a:pPr marL="342900" indent="-342900" algn="l">
              <a:buAutoNum type="arabicParenR"/>
            </a:pPr>
            <a:r>
              <a:rPr lang="en-US" sz="1500" dirty="0"/>
              <a:t>Adwaidh– CB.SC.U4AIE24003</a:t>
            </a:r>
          </a:p>
          <a:p>
            <a:pPr marL="342900" indent="-342900" algn="l">
              <a:buAutoNum type="arabicParenR"/>
            </a:pPr>
            <a:r>
              <a:rPr lang="en-US" sz="1500" dirty="0"/>
              <a:t>Nikhileshwara Reddy– CB.SC.U4AIE24063</a:t>
            </a:r>
          </a:p>
        </p:txBody>
      </p:sp>
    </p:spTree>
    <p:extLst>
      <p:ext uri="{BB962C8B-B14F-4D97-AF65-F5344CB8AC3E}">
        <p14:creationId xmlns:p14="http://schemas.microsoft.com/office/powerpoint/2010/main" val="41678842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2D94D123-B00B-0300-B934-FE0661648718}"/>
              </a:ext>
            </a:extLst>
          </p:cNvPr>
          <p:cNvSpPr/>
          <p:nvPr/>
        </p:nvSpPr>
        <p:spPr>
          <a:xfrm>
            <a:off x="919119" y="1095377"/>
            <a:ext cx="10353762" cy="5333998"/>
          </a:xfrm>
          <a:prstGeom prst="roundRect">
            <a:avLst>
              <a:gd name="adj" fmla="val 15238"/>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lang="en-IN" dirty="0"/>
          </a:p>
        </p:txBody>
      </p:sp>
      <p:sp>
        <p:nvSpPr>
          <p:cNvPr id="2" name="Title 1">
            <a:extLst>
              <a:ext uri="{FF2B5EF4-FFF2-40B4-BE49-F238E27FC236}">
                <a16:creationId xmlns:a16="http://schemas.microsoft.com/office/drawing/2014/main" id="{A0157134-E360-E627-7BFA-AAAEADA06F78}"/>
              </a:ext>
            </a:extLst>
          </p:cNvPr>
          <p:cNvSpPr>
            <a:spLocks noGrp="1"/>
          </p:cNvSpPr>
          <p:nvPr>
            <p:ph type="title"/>
          </p:nvPr>
        </p:nvSpPr>
        <p:spPr>
          <a:xfrm>
            <a:off x="1075720" y="38102"/>
            <a:ext cx="10353762" cy="1257300"/>
          </a:xfrm>
        </p:spPr>
        <p:txBody>
          <a:bodyPr>
            <a:normAutofit/>
          </a:bodyPr>
          <a:lstStyle/>
          <a:p>
            <a:pPr algn="l"/>
            <a:r>
              <a:rPr lang="en-IN" sz="4800" dirty="0"/>
              <a:t>Introduction :</a:t>
            </a:r>
          </a:p>
        </p:txBody>
      </p:sp>
      <p:sp>
        <p:nvSpPr>
          <p:cNvPr id="7" name="Isosceles Triangle 6">
            <a:extLst>
              <a:ext uri="{FF2B5EF4-FFF2-40B4-BE49-F238E27FC236}">
                <a16:creationId xmlns:a16="http://schemas.microsoft.com/office/drawing/2014/main" id="{1382DBFC-EE01-0374-C971-015FB03F9845}"/>
              </a:ext>
            </a:extLst>
          </p:cNvPr>
          <p:cNvSpPr/>
          <p:nvPr/>
        </p:nvSpPr>
        <p:spPr>
          <a:xfrm flipV="1">
            <a:off x="9858374" y="9526"/>
            <a:ext cx="2333626" cy="857250"/>
          </a:xfrm>
          <a:prstGeom prst="triangle">
            <a:avLst>
              <a:gd name="adj" fmla="val 100000"/>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Isosceles Triangle 2">
            <a:extLst>
              <a:ext uri="{FF2B5EF4-FFF2-40B4-BE49-F238E27FC236}">
                <a16:creationId xmlns:a16="http://schemas.microsoft.com/office/drawing/2014/main" id="{065C2DD4-A85E-CBAE-43B8-954A9FE6387A}"/>
              </a:ext>
            </a:extLst>
          </p:cNvPr>
          <p:cNvSpPr/>
          <p:nvPr/>
        </p:nvSpPr>
        <p:spPr>
          <a:xfrm rot="10800000" flipV="1">
            <a:off x="0" y="6000750"/>
            <a:ext cx="2333626" cy="857250"/>
          </a:xfrm>
          <a:prstGeom prst="triangle">
            <a:avLst>
              <a:gd name="adj" fmla="val 100000"/>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Content Placeholder 2">
            <a:extLst>
              <a:ext uri="{FF2B5EF4-FFF2-40B4-BE49-F238E27FC236}">
                <a16:creationId xmlns:a16="http://schemas.microsoft.com/office/drawing/2014/main" id="{42660B2E-BE55-7FE6-15B5-D95BD8CB1567}"/>
              </a:ext>
            </a:extLst>
          </p:cNvPr>
          <p:cNvSpPr>
            <a:spLocks noGrp="1"/>
          </p:cNvSpPr>
          <p:nvPr>
            <p:ph idx="1"/>
          </p:nvPr>
        </p:nvSpPr>
        <p:spPr>
          <a:xfrm>
            <a:off x="1166813" y="1347789"/>
            <a:ext cx="10060081" cy="5029198"/>
          </a:xfrm>
          <a:noFill/>
          <a:ln>
            <a:noFill/>
          </a:ln>
        </p:spPr>
        <p:style>
          <a:lnRef idx="2">
            <a:schemeClr val="dk1"/>
          </a:lnRef>
          <a:fillRef idx="1">
            <a:schemeClr val="lt1"/>
          </a:fillRef>
          <a:effectRef idx="0">
            <a:schemeClr val="dk1"/>
          </a:effectRef>
          <a:fontRef idx="minor">
            <a:schemeClr val="dk1"/>
          </a:fontRef>
        </p:style>
        <p:txBody>
          <a:bodyPr>
            <a:normAutofit/>
          </a:bodyPr>
          <a:lstStyle/>
          <a:p>
            <a:pPr marL="36900" indent="0" eaLnBrk="0" fontAlgn="base" hangingPunct="0">
              <a:spcBef>
                <a:spcPct val="0"/>
              </a:spcBef>
              <a:spcAft>
                <a:spcPct val="0"/>
              </a:spcAft>
              <a:buNone/>
            </a:pPr>
            <a:r>
              <a:rPr lang="en-US" sz="1800" b="1" dirty="0">
                <a:solidFill>
                  <a:schemeClr val="bg1"/>
                </a:solidFill>
              </a:rPr>
              <a:t>Project Idea:</a:t>
            </a:r>
          </a:p>
          <a:p>
            <a:r>
              <a:rPr lang="en-IN" sz="1800" dirty="0"/>
              <a:t>Each Process would be considered as a player and it will have its own attributes like Health, Stamina and Attack power.</a:t>
            </a:r>
          </a:p>
          <a:p>
            <a:r>
              <a:rPr lang="en-IN" sz="1800" dirty="0"/>
              <a:t>Each process will take turn in randomly selecting one of the actions and use system calls to gain health, attack or other actions.</a:t>
            </a:r>
          </a:p>
          <a:p>
            <a:r>
              <a:rPr lang="en-IN" sz="1800" dirty="0"/>
              <a:t>Each action would be recorded and displayed to the user through terminal and one process would end up being winner.</a:t>
            </a:r>
          </a:p>
          <a:p>
            <a:pPr marL="36900" indent="0">
              <a:buNone/>
            </a:pPr>
            <a:r>
              <a:rPr lang="en-IN" sz="1800" dirty="0"/>
              <a:t>System calls that would be used:</a:t>
            </a:r>
          </a:p>
          <a:p>
            <a:r>
              <a:rPr lang="en-US" altLang="en-US" sz="1800" dirty="0">
                <a:ln>
                  <a:noFill/>
                </a:ln>
                <a:solidFill>
                  <a:schemeClr val="bg1"/>
                </a:solidFill>
                <a:effectLst/>
              </a:rPr>
              <a:t>File/Directory I/O: open, read, close</a:t>
            </a:r>
            <a:endParaRPr lang="en-US" altLang="en-US" sz="1800" dirty="0">
              <a:solidFill>
                <a:schemeClr val="bg1"/>
              </a:solidFill>
              <a:effectLst/>
            </a:endParaRPr>
          </a:p>
          <a:p>
            <a:r>
              <a:rPr lang="en-US" altLang="en-US" sz="1800" dirty="0">
                <a:ln>
                  <a:noFill/>
                </a:ln>
                <a:solidFill>
                  <a:schemeClr val="bg1"/>
                </a:solidFill>
                <a:effectLst/>
              </a:rPr>
              <a:t>IPC: pipe, open, write, read</a:t>
            </a:r>
          </a:p>
          <a:p>
            <a:r>
              <a:rPr lang="en-US" altLang="en-US" sz="1800" dirty="0">
                <a:ln>
                  <a:noFill/>
                </a:ln>
                <a:solidFill>
                  <a:schemeClr val="bg1"/>
                </a:solidFill>
                <a:effectLst/>
              </a:rPr>
              <a:t>Process Control: fork, kill, getpid</a:t>
            </a:r>
          </a:p>
          <a:p>
            <a:endParaRPr lang="en-IN" sz="1800" dirty="0">
              <a:solidFill>
                <a:schemeClr val="bg1"/>
              </a:solidFill>
            </a:endParaRPr>
          </a:p>
          <a:p>
            <a:pPr marL="36900" indent="0">
              <a:buNone/>
            </a:pPr>
            <a:endParaRPr lang="en-US" sz="1800" b="1" dirty="0"/>
          </a:p>
          <a:p>
            <a:pPr marL="36900" indent="0">
              <a:buNone/>
            </a:pPr>
            <a:endParaRPr lang="en-US" sz="1800" b="1" dirty="0"/>
          </a:p>
          <a:p>
            <a:pPr marL="36900" indent="0">
              <a:buNone/>
            </a:pPr>
            <a:endParaRPr lang="en-US" sz="1800" b="1" dirty="0"/>
          </a:p>
          <a:p>
            <a:pPr marL="36900" indent="0">
              <a:buNone/>
            </a:pPr>
            <a:endParaRPr lang="en-US" sz="1800" dirty="0"/>
          </a:p>
          <a:p>
            <a:pPr marL="36900" indent="0">
              <a:buNone/>
            </a:pPr>
            <a:endParaRPr lang="en-IN" dirty="0">
              <a:solidFill>
                <a:schemeClr val="bg1"/>
              </a:solidFill>
            </a:endParaRPr>
          </a:p>
        </p:txBody>
      </p:sp>
    </p:spTree>
    <p:extLst>
      <p:ext uri="{BB962C8B-B14F-4D97-AF65-F5344CB8AC3E}">
        <p14:creationId xmlns:p14="http://schemas.microsoft.com/office/powerpoint/2010/main" val="23525450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317024-33B0-179B-1996-9DEE032BCBC2}"/>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9F4FCE3A-87CE-6496-D330-B939BFBA246F}"/>
              </a:ext>
            </a:extLst>
          </p:cNvPr>
          <p:cNvSpPr/>
          <p:nvPr/>
        </p:nvSpPr>
        <p:spPr>
          <a:xfrm>
            <a:off x="766953" y="1310917"/>
            <a:ext cx="10886557" cy="4840466"/>
          </a:xfrm>
          <a:prstGeom prst="roundRect">
            <a:avLst>
              <a:gd name="adj" fmla="val 1194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3553755F-5FBC-4A36-060B-2CADF69F122C}"/>
              </a:ext>
            </a:extLst>
          </p:cNvPr>
          <p:cNvSpPr>
            <a:spLocks noGrp="1"/>
          </p:cNvSpPr>
          <p:nvPr>
            <p:ph type="title"/>
          </p:nvPr>
        </p:nvSpPr>
        <p:spPr>
          <a:xfrm>
            <a:off x="766953" y="151709"/>
            <a:ext cx="10958556" cy="1257300"/>
          </a:xfrm>
        </p:spPr>
        <p:txBody>
          <a:bodyPr>
            <a:normAutofit fontScale="90000"/>
          </a:bodyPr>
          <a:lstStyle/>
          <a:p>
            <a:pPr algn="l"/>
            <a:r>
              <a:rPr lang="en-US" altLang="en-US" sz="4800" dirty="0">
                <a:ln>
                  <a:noFill/>
                </a:ln>
                <a:latin typeface="+mn-lt"/>
              </a:rPr>
              <a:t>Game Mechanics (Process Battle Simulator) </a:t>
            </a:r>
            <a:r>
              <a:rPr lang="en-IN" sz="4800" dirty="0">
                <a:latin typeface="+mn-lt"/>
              </a:rPr>
              <a:t>:</a:t>
            </a:r>
          </a:p>
        </p:txBody>
      </p:sp>
      <p:sp>
        <p:nvSpPr>
          <p:cNvPr id="3" name="Content Placeholder 2">
            <a:extLst>
              <a:ext uri="{FF2B5EF4-FFF2-40B4-BE49-F238E27FC236}">
                <a16:creationId xmlns:a16="http://schemas.microsoft.com/office/drawing/2014/main" id="{EEAB9032-CAC6-578E-03F5-FD861BCBA3C4}"/>
              </a:ext>
            </a:extLst>
          </p:cNvPr>
          <p:cNvSpPr>
            <a:spLocks noGrp="1"/>
          </p:cNvSpPr>
          <p:nvPr>
            <p:ph idx="1"/>
          </p:nvPr>
        </p:nvSpPr>
        <p:spPr>
          <a:xfrm>
            <a:off x="965106" y="1381662"/>
            <a:ext cx="10060081" cy="4619088"/>
          </a:xfrm>
          <a:noFill/>
          <a:ln>
            <a:noFill/>
          </a:ln>
        </p:spPr>
        <p:style>
          <a:lnRef idx="2">
            <a:schemeClr val="dk1"/>
          </a:lnRef>
          <a:fillRef idx="1">
            <a:schemeClr val="lt1"/>
          </a:fillRef>
          <a:effectRef idx="0">
            <a:schemeClr val="dk1"/>
          </a:effectRef>
          <a:fontRef idx="minor">
            <a:schemeClr val="dk1"/>
          </a:fontRef>
        </p:style>
        <p:txBody>
          <a:bodyPr>
            <a:noAutofit/>
          </a:bodyPr>
          <a:lstStyle/>
          <a:p>
            <a:pPr>
              <a:lnSpc>
                <a:spcPct val="120000"/>
              </a:lnSpc>
              <a:spcBef>
                <a:spcPts val="25"/>
              </a:spcBef>
              <a:spcAft>
                <a:spcPts val="25"/>
              </a:spcAft>
            </a:pPr>
            <a:r>
              <a:rPr lang="en-US" altLang="en-US" sz="1600" b="1" dirty="0">
                <a:ln>
                  <a:noFill/>
                </a:ln>
                <a:solidFill>
                  <a:schemeClr val="bg1"/>
                </a:solidFill>
                <a:effectLst/>
              </a:rPr>
              <a:t>Players as Processes</a:t>
            </a:r>
          </a:p>
          <a:p>
            <a:pPr marL="450000" lvl="1" indent="0">
              <a:lnSpc>
                <a:spcPct val="120000"/>
              </a:lnSpc>
              <a:spcBef>
                <a:spcPts val="25"/>
              </a:spcBef>
              <a:spcAft>
                <a:spcPts val="25"/>
              </a:spcAft>
              <a:buNone/>
            </a:pPr>
            <a:r>
              <a:rPr lang="en-US" altLang="en-US" sz="1600" dirty="0">
                <a:ln>
                  <a:noFill/>
                </a:ln>
                <a:solidFill>
                  <a:schemeClr val="bg1"/>
                </a:solidFill>
                <a:effectLst/>
              </a:rPr>
              <a:t>The game creates two processes using fork(). Parent Process = Player 1 . Child Process = Player 2</a:t>
            </a:r>
          </a:p>
          <a:p>
            <a:pPr>
              <a:lnSpc>
                <a:spcPct val="120000"/>
              </a:lnSpc>
              <a:spcBef>
                <a:spcPts val="25"/>
              </a:spcBef>
              <a:spcAft>
                <a:spcPts val="25"/>
              </a:spcAft>
            </a:pPr>
            <a:r>
              <a:rPr lang="en-US" altLang="en-US" sz="1600" b="1" dirty="0">
                <a:ln>
                  <a:noFill/>
                </a:ln>
                <a:solidFill>
                  <a:schemeClr val="bg1"/>
                </a:solidFill>
                <a:effectLst/>
              </a:rPr>
              <a:t>Turn-Based Combat</a:t>
            </a:r>
          </a:p>
          <a:p>
            <a:pPr>
              <a:lnSpc>
                <a:spcPct val="120000"/>
              </a:lnSpc>
              <a:spcBef>
                <a:spcPts val="25"/>
              </a:spcBef>
              <a:spcAft>
                <a:spcPts val="25"/>
              </a:spcAft>
            </a:pPr>
            <a:r>
              <a:rPr lang="en-US" altLang="en-US" sz="1600" dirty="0">
                <a:ln>
                  <a:noFill/>
                </a:ln>
                <a:solidFill>
                  <a:schemeClr val="bg1"/>
                </a:solidFill>
                <a:effectLst/>
              </a:rPr>
              <a:t>Each player takes turns to perform an action. Actions are chosen randomly:</a:t>
            </a:r>
          </a:p>
          <a:p>
            <a:pPr lvl="1">
              <a:lnSpc>
                <a:spcPct val="120000"/>
              </a:lnSpc>
              <a:spcBef>
                <a:spcPts val="25"/>
              </a:spcBef>
              <a:spcAft>
                <a:spcPts val="25"/>
              </a:spcAft>
            </a:pPr>
            <a:r>
              <a:rPr lang="en-US" altLang="en-US" sz="1600" dirty="0">
                <a:ln>
                  <a:noFill/>
                </a:ln>
                <a:solidFill>
                  <a:schemeClr val="bg1"/>
                </a:solidFill>
                <a:effectLst/>
              </a:rPr>
              <a:t>Attack → Inflicts 1–20 damage on the opponent.</a:t>
            </a:r>
          </a:p>
          <a:p>
            <a:pPr lvl="1">
              <a:lnSpc>
                <a:spcPct val="120000"/>
              </a:lnSpc>
              <a:spcBef>
                <a:spcPts val="25"/>
              </a:spcBef>
              <a:spcAft>
                <a:spcPts val="25"/>
              </a:spcAft>
            </a:pPr>
            <a:r>
              <a:rPr lang="en-US" altLang="en-US" sz="1600" dirty="0">
                <a:ln>
                  <a:noFill/>
                </a:ln>
                <a:solidFill>
                  <a:schemeClr val="bg1"/>
                </a:solidFill>
                <a:effectLst/>
              </a:rPr>
              <a:t>Heal → Restores 1–15 HP to self.</a:t>
            </a:r>
          </a:p>
          <a:p>
            <a:pPr>
              <a:lnSpc>
                <a:spcPct val="120000"/>
              </a:lnSpc>
              <a:spcBef>
                <a:spcPts val="25"/>
              </a:spcBef>
              <a:spcAft>
                <a:spcPts val="25"/>
              </a:spcAft>
            </a:pPr>
            <a:r>
              <a:rPr lang="en-US" altLang="en-US" sz="1600" b="1" dirty="0">
                <a:ln>
                  <a:noFill/>
                </a:ln>
                <a:solidFill>
                  <a:schemeClr val="bg1"/>
                </a:solidFill>
                <a:effectLst/>
              </a:rPr>
              <a:t>Inter-Process Communication (IPC)</a:t>
            </a:r>
          </a:p>
          <a:p>
            <a:pPr lvl="1">
              <a:lnSpc>
                <a:spcPct val="120000"/>
              </a:lnSpc>
              <a:spcBef>
                <a:spcPts val="25"/>
              </a:spcBef>
              <a:spcAft>
                <a:spcPts val="25"/>
              </a:spcAft>
            </a:pPr>
            <a:r>
              <a:rPr lang="en-US" altLang="en-US" sz="1600" dirty="0">
                <a:ln>
                  <a:noFill/>
                </a:ln>
                <a:solidFill>
                  <a:schemeClr val="bg1"/>
                </a:solidFill>
                <a:effectLst/>
              </a:rPr>
              <a:t>A pipe connects the parent and child processes.</a:t>
            </a:r>
          </a:p>
          <a:p>
            <a:pPr lvl="1">
              <a:lnSpc>
                <a:spcPct val="120000"/>
              </a:lnSpc>
              <a:spcBef>
                <a:spcPts val="25"/>
              </a:spcBef>
              <a:spcAft>
                <a:spcPts val="25"/>
              </a:spcAft>
            </a:pPr>
            <a:r>
              <a:rPr lang="en-US" altLang="en-US" sz="1600" dirty="0">
                <a:ln>
                  <a:noFill/>
                </a:ln>
                <a:solidFill>
                  <a:schemeClr val="bg1"/>
                </a:solidFill>
                <a:effectLst/>
              </a:rPr>
              <a:t>Player 2 sends its chosen move to Player 1 through the pipe.</a:t>
            </a:r>
          </a:p>
          <a:p>
            <a:pPr lvl="1">
              <a:lnSpc>
                <a:spcPct val="120000"/>
              </a:lnSpc>
              <a:spcBef>
                <a:spcPts val="25"/>
              </a:spcBef>
              <a:spcAft>
                <a:spcPts val="25"/>
              </a:spcAft>
            </a:pPr>
            <a:r>
              <a:rPr lang="en-US" altLang="en-US" sz="1600" dirty="0">
                <a:ln>
                  <a:noFill/>
                </a:ln>
                <a:solidFill>
                  <a:schemeClr val="bg1"/>
                </a:solidFill>
                <a:effectLst/>
              </a:rPr>
              <a:t>Player 1 executes both moves (its own + the one received).</a:t>
            </a:r>
          </a:p>
          <a:p>
            <a:pPr>
              <a:lnSpc>
                <a:spcPct val="120000"/>
              </a:lnSpc>
              <a:spcBef>
                <a:spcPts val="25"/>
              </a:spcBef>
              <a:spcAft>
                <a:spcPts val="25"/>
              </a:spcAft>
            </a:pPr>
            <a:r>
              <a:rPr lang="en-US" altLang="en-US" sz="1600" b="1" dirty="0">
                <a:ln>
                  <a:noFill/>
                </a:ln>
                <a:solidFill>
                  <a:schemeClr val="bg1"/>
                </a:solidFill>
                <a:effectLst/>
              </a:rPr>
              <a:t>Health Tracking</a:t>
            </a:r>
          </a:p>
          <a:p>
            <a:pPr marL="36900" indent="0">
              <a:lnSpc>
                <a:spcPct val="120000"/>
              </a:lnSpc>
              <a:spcBef>
                <a:spcPts val="25"/>
              </a:spcBef>
              <a:spcAft>
                <a:spcPts val="25"/>
              </a:spcAft>
              <a:buNone/>
            </a:pPr>
            <a:r>
              <a:rPr lang="en-US" altLang="en-US" sz="1600" dirty="0">
                <a:ln>
                  <a:noFill/>
                </a:ln>
                <a:solidFill>
                  <a:schemeClr val="bg1"/>
                </a:solidFill>
                <a:effectLst/>
              </a:rPr>
              <a:t>	Each player starts with 100 HP. HP cannot exceed 100 (after healing). HP cannot drop below 0 (after taking 	damage). 	Each move (attack/heal) is written into a file </a:t>
            </a:r>
            <a:r>
              <a:rPr lang="en-US" altLang="en-US" sz="1600" dirty="0">
                <a:ln>
                  <a:noFill/>
                </a:ln>
                <a:solidFill>
                  <a:schemeClr val="bg1"/>
                </a:solidFill>
                <a:effectLst/>
                <a:cs typeface="Arial" panose="020B0604020202020204" pitchFamily="34" charset="0"/>
              </a:rPr>
              <a:t>battle_log.txt using open(), write(), and close(). </a:t>
            </a:r>
            <a:r>
              <a:rPr lang="en-US" altLang="en-US" sz="1600" dirty="0">
                <a:ln>
                  <a:noFill/>
                </a:ln>
                <a:solidFill>
                  <a:schemeClr val="bg1"/>
                </a:solidFill>
                <a:effectLst/>
              </a:rPr>
              <a:t>This creates a permanent 	battle record that can be reviewed after the ga</a:t>
            </a:r>
          </a:p>
          <a:p>
            <a:pPr>
              <a:lnSpc>
                <a:spcPct val="120000"/>
              </a:lnSpc>
              <a:spcBef>
                <a:spcPts val="25"/>
              </a:spcBef>
              <a:spcAft>
                <a:spcPts val="25"/>
              </a:spcAft>
            </a:pPr>
            <a:r>
              <a:rPr lang="en-US" altLang="en-US" sz="1600" b="1" dirty="0">
                <a:ln>
                  <a:noFill/>
                </a:ln>
                <a:solidFill>
                  <a:schemeClr val="bg1"/>
                </a:solidFill>
                <a:effectLst/>
              </a:rPr>
              <a:t>Victory Condition</a:t>
            </a:r>
          </a:p>
          <a:p>
            <a:pPr marL="457200" lvl="1" indent="0" defTabSz="914400" eaLnBrk="0" fontAlgn="base" hangingPunct="0">
              <a:lnSpc>
                <a:spcPct val="120000"/>
              </a:lnSpc>
              <a:spcBef>
                <a:spcPts val="25"/>
              </a:spcBef>
              <a:spcAft>
                <a:spcPts val="25"/>
              </a:spcAft>
              <a:buClrTx/>
              <a:buSzTx/>
              <a:buNone/>
            </a:pPr>
            <a:r>
              <a:rPr lang="en-US" altLang="en-US" sz="1600" dirty="0">
                <a:ln>
                  <a:noFill/>
                </a:ln>
                <a:solidFill>
                  <a:schemeClr val="bg1"/>
                </a:solidFill>
                <a:effectLst/>
              </a:rPr>
              <a:t>The battle continues until one player’s HP reaches 0. The surviving process is declared the winner.</a:t>
            </a:r>
          </a:p>
          <a:p>
            <a:pPr marL="0" lvl="0" indent="0" defTabSz="914400" eaLnBrk="0" fontAlgn="base" hangingPunct="0">
              <a:lnSpc>
                <a:spcPct val="120000"/>
              </a:lnSpc>
              <a:spcBef>
                <a:spcPts val="25"/>
              </a:spcBef>
              <a:spcAft>
                <a:spcPts val="25"/>
              </a:spcAft>
              <a:buClrTx/>
              <a:buSzTx/>
              <a:buNone/>
            </a:pPr>
            <a:endParaRPr lang="en-US" altLang="en-US" sz="1600" dirty="0">
              <a:ln>
                <a:noFill/>
              </a:ln>
              <a:solidFill>
                <a:schemeClr val="bg1"/>
              </a:solidFill>
              <a:effectLst/>
              <a:latin typeface="Arial" panose="020B0604020202020204" pitchFamily="34" charset="0"/>
            </a:endParaRPr>
          </a:p>
          <a:p>
            <a:pPr marL="36900" indent="0">
              <a:lnSpc>
                <a:spcPct val="120000"/>
              </a:lnSpc>
              <a:spcBef>
                <a:spcPts val="25"/>
              </a:spcBef>
              <a:spcAft>
                <a:spcPts val="25"/>
              </a:spcAft>
              <a:buNone/>
            </a:pPr>
            <a:endParaRPr lang="en-US" sz="1600" b="1" dirty="0">
              <a:solidFill>
                <a:schemeClr val="bg1"/>
              </a:solidFill>
            </a:endParaRPr>
          </a:p>
          <a:p>
            <a:pPr marL="36900" indent="0">
              <a:lnSpc>
                <a:spcPct val="120000"/>
              </a:lnSpc>
              <a:spcBef>
                <a:spcPts val="25"/>
              </a:spcBef>
              <a:spcAft>
                <a:spcPts val="25"/>
              </a:spcAft>
              <a:buNone/>
            </a:pPr>
            <a:endParaRPr lang="en-US" sz="1600" b="1" dirty="0">
              <a:solidFill>
                <a:schemeClr val="bg1"/>
              </a:solidFill>
            </a:endParaRPr>
          </a:p>
          <a:p>
            <a:pPr marL="36900" indent="0">
              <a:lnSpc>
                <a:spcPct val="120000"/>
              </a:lnSpc>
              <a:spcBef>
                <a:spcPts val="25"/>
              </a:spcBef>
              <a:spcAft>
                <a:spcPts val="25"/>
              </a:spcAft>
              <a:buNone/>
            </a:pPr>
            <a:endParaRPr lang="en-US" sz="1600" b="1" dirty="0">
              <a:solidFill>
                <a:schemeClr val="bg1"/>
              </a:solidFill>
            </a:endParaRPr>
          </a:p>
          <a:p>
            <a:pPr marL="36900" indent="0">
              <a:lnSpc>
                <a:spcPct val="120000"/>
              </a:lnSpc>
              <a:spcBef>
                <a:spcPts val="25"/>
              </a:spcBef>
              <a:spcAft>
                <a:spcPts val="25"/>
              </a:spcAft>
              <a:buNone/>
            </a:pPr>
            <a:endParaRPr lang="en-US" sz="1600" dirty="0">
              <a:solidFill>
                <a:schemeClr val="bg1"/>
              </a:solidFill>
            </a:endParaRPr>
          </a:p>
          <a:p>
            <a:pPr marL="36900" indent="0">
              <a:lnSpc>
                <a:spcPct val="120000"/>
              </a:lnSpc>
              <a:spcBef>
                <a:spcPts val="25"/>
              </a:spcBef>
              <a:spcAft>
                <a:spcPts val="25"/>
              </a:spcAft>
              <a:buNone/>
            </a:pPr>
            <a:endParaRPr lang="en-IN" sz="1600" dirty="0">
              <a:solidFill>
                <a:schemeClr val="bg1"/>
              </a:solidFill>
            </a:endParaRPr>
          </a:p>
        </p:txBody>
      </p:sp>
      <p:sp>
        <p:nvSpPr>
          <p:cNvPr id="7" name="Isosceles Triangle 6">
            <a:extLst>
              <a:ext uri="{FF2B5EF4-FFF2-40B4-BE49-F238E27FC236}">
                <a16:creationId xmlns:a16="http://schemas.microsoft.com/office/drawing/2014/main" id="{A740CB5D-187D-E77C-BAF2-4CB362B66E9F}"/>
              </a:ext>
            </a:extLst>
          </p:cNvPr>
          <p:cNvSpPr/>
          <p:nvPr/>
        </p:nvSpPr>
        <p:spPr>
          <a:xfrm flipV="1">
            <a:off x="9858374" y="9526"/>
            <a:ext cx="2333626" cy="857250"/>
          </a:xfrm>
          <a:prstGeom prst="triangle">
            <a:avLst>
              <a:gd name="adj" fmla="val 100000"/>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Isosceles Triangle 4">
            <a:extLst>
              <a:ext uri="{FF2B5EF4-FFF2-40B4-BE49-F238E27FC236}">
                <a16:creationId xmlns:a16="http://schemas.microsoft.com/office/drawing/2014/main" id="{F24AC983-6462-22AB-6790-601290F42909}"/>
              </a:ext>
            </a:extLst>
          </p:cNvPr>
          <p:cNvSpPr/>
          <p:nvPr/>
        </p:nvSpPr>
        <p:spPr>
          <a:xfrm rot="10800000" flipV="1">
            <a:off x="0" y="6000750"/>
            <a:ext cx="2333626" cy="857250"/>
          </a:xfrm>
          <a:prstGeom prst="triangle">
            <a:avLst>
              <a:gd name="adj" fmla="val 100000"/>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8122571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F8212C-4DAB-6DE2-9F90-20B879C970CE}"/>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9A0EAD96-02EF-890E-FFFD-9BE27557971F}"/>
              </a:ext>
            </a:extLst>
          </p:cNvPr>
          <p:cNvSpPr/>
          <p:nvPr/>
        </p:nvSpPr>
        <p:spPr>
          <a:xfrm>
            <a:off x="847119" y="1281112"/>
            <a:ext cx="10687655" cy="5024438"/>
          </a:xfrm>
          <a:prstGeom prst="roundRect">
            <a:avLst>
              <a:gd name="adj" fmla="val 11345"/>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 name="Title 1">
            <a:extLst>
              <a:ext uri="{FF2B5EF4-FFF2-40B4-BE49-F238E27FC236}">
                <a16:creationId xmlns:a16="http://schemas.microsoft.com/office/drawing/2014/main" id="{0747364D-C074-9530-B036-6270DAC2970E}"/>
              </a:ext>
            </a:extLst>
          </p:cNvPr>
          <p:cNvSpPr>
            <a:spLocks noGrp="1"/>
          </p:cNvSpPr>
          <p:nvPr>
            <p:ph type="title"/>
          </p:nvPr>
        </p:nvSpPr>
        <p:spPr>
          <a:xfrm>
            <a:off x="919119" y="133791"/>
            <a:ext cx="10353762" cy="1257300"/>
          </a:xfrm>
        </p:spPr>
        <p:txBody>
          <a:bodyPr>
            <a:normAutofit/>
          </a:bodyPr>
          <a:lstStyle/>
          <a:p>
            <a:pPr algn="l"/>
            <a:r>
              <a:rPr lang="en-IN" sz="4800" dirty="0"/>
              <a:t>Core Functionalities and Outcome:</a:t>
            </a:r>
          </a:p>
        </p:txBody>
      </p:sp>
      <p:sp>
        <p:nvSpPr>
          <p:cNvPr id="3" name="Content Placeholder 2">
            <a:extLst>
              <a:ext uri="{FF2B5EF4-FFF2-40B4-BE49-F238E27FC236}">
                <a16:creationId xmlns:a16="http://schemas.microsoft.com/office/drawing/2014/main" id="{CA75AC33-BD3C-440F-18C7-7620D6DA099C}"/>
              </a:ext>
            </a:extLst>
          </p:cNvPr>
          <p:cNvSpPr>
            <a:spLocks noGrp="1"/>
          </p:cNvSpPr>
          <p:nvPr>
            <p:ph idx="1"/>
          </p:nvPr>
        </p:nvSpPr>
        <p:spPr>
          <a:xfrm>
            <a:off x="1014065" y="1391091"/>
            <a:ext cx="10353762" cy="4499680"/>
          </a:xfrm>
          <a:noFill/>
          <a:ln>
            <a:noFill/>
          </a:ln>
        </p:spPr>
        <p:style>
          <a:lnRef idx="2">
            <a:schemeClr val="dk1"/>
          </a:lnRef>
          <a:fillRef idx="1">
            <a:schemeClr val="lt1"/>
          </a:fillRef>
          <a:effectRef idx="0">
            <a:schemeClr val="dk1"/>
          </a:effectRef>
          <a:fontRef idx="minor">
            <a:schemeClr val="dk1"/>
          </a:fontRef>
        </p:style>
        <p:txBody>
          <a:bodyPr>
            <a:noAutofit/>
          </a:bodyPr>
          <a:lstStyle/>
          <a:p>
            <a:pPr marL="36900" indent="0">
              <a:lnSpc>
                <a:spcPct val="100000"/>
              </a:lnSpc>
              <a:spcBef>
                <a:spcPts val="50"/>
              </a:spcBef>
              <a:spcAft>
                <a:spcPts val="50"/>
              </a:spcAft>
              <a:buNone/>
            </a:pPr>
            <a:r>
              <a:rPr lang="en-US" altLang="en-US" sz="1600" b="1" dirty="0">
                <a:ln>
                  <a:noFill/>
                </a:ln>
                <a:solidFill>
                  <a:schemeClr val="bg1"/>
                </a:solidFill>
                <a:effectLst/>
              </a:rPr>
              <a:t>Process Control:</a:t>
            </a:r>
          </a:p>
          <a:p>
            <a:pPr>
              <a:lnSpc>
                <a:spcPct val="100000"/>
              </a:lnSpc>
              <a:spcBef>
                <a:spcPts val="50"/>
              </a:spcBef>
              <a:spcAft>
                <a:spcPts val="50"/>
              </a:spcAft>
              <a:buFont typeface="Wingdings" panose="05000000000000000000" pitchFamily="2" charset="2"/>
              <a:buChar char="v"/>
            </a:pPr>
            <a:r>
              <a:rPr lang="en-US" altLang="en-US" sz="1600" dirty="0">
                <a:ln>
                  <a:noFill/>
                </a:ln>
                <a:solidFill>
                  <a:schemeClr val="bg1"/>
                </a:solidFill>
                <a:effectLst/>
              </a:rPr>
              <a:t>Spawn Player/NPC Processes — create separate processes for each participant using fork.</a:t>
            </a:r>
          </a:p>
          <a:p>
            <a:pPr>
              <a:lnSpc>
                <a:spcPct val="100000"/>
              </a:lnSpc>
              <a:spcBef>
                <a:spcPts val="50"/>
              </a:spcBef>
              <a:spcAft>
                <a:spcPts val="50"/>
              </a:spcAft>
              <a:buFont typeface="Wingdings" panose="05000000000000000000" pitchFamily="2" charset="2"/>
              <a:buChar char="v"/>
            </a:pPr>
            <a:r>
              <a:rPr lang="en-US" altLang="en-US" sz="1600" dirty="0">
                <a:ln>
                  <a:noFill/>
                </a:ln>
                <a:solidFill>
                  <a:schemeClr val="bg1"/>
                </a:solidFill>
                <a:effectLst/>
              </a:rPr>
              <a:t>Identify &amp; Manage Turns — use getpid to know whose turn it is.</a:t>
            </a:r>
          </a:p>
          <a:p>
            <a:pPr>
              <a:lnSpc>
                <a:spcPct val="100000"/>
              </a:lnSpc>
              <a:spcBef>
                <a:spcPts val="50"/>
              </a:spcBef>
              <a:spcAft>
                <a:spcPts val="50"/>
              </a:spcAft>
              <a:buFont typeface="Wingdings" panose="05000000000000000000" pitchFamily="2" charset="2"/>
              <a:buChar char="v"/>
            </a:pPr>
            <a:r>
              <a:rPr lang="en-US" altLang="en-US" sz="1600" dirty="0">
                <a:ln>
                  <a:noFill/>
                </a:ln>
                <a:solidFill>
                  <a:schemeClr val="bg1"/>
                </a:solidFill>
                <a:effectLst/>
              </a:rPr>
              <a:t>Attack or Eliminate a Player — use kill to send signals representing “damage” or termination.</a:t>
            </a:r>
          </a:p>
          <a:p>
            <a:pPr marL="36900" indent="0">
              <a:lnSpc>
                <a:spcPct val="100000"/>
              </a:lnSpc>
              <a:spcBef>
                <a:spcPts val="50"/>
              </a:spcBef>
              <a:spcAft>
                <a:spcPts val="50"/>
              </a:spcAft>
              <a:buNone/>
            </a:pPr>
            <a:endParaRPr lang="en-US" altLang="en-US" sz="1600" b="1" dirty="0">
              <a:ln>
                <a:noFill/>
              </a:ln>
              <a:solidFill>
                <a:schemeClr val="bg1"/>
              </a:solidFill>
              <a:effectLst/>
            </a:endParaRPr>
          </a:p>
          <a:p>
            <a:pPr marL="36900" indent="0">
              <a:lnSpc>
                <a:spcPct val="100000"/>
              </a:lnSpc>
              <a:spcBef>
                <a:spcPts val="50"/>
              </a:spcBef>
              <a:spcAft>
                <a:spcPts val="50"/>
              </a:spcAft>
              <a:buNone/>
            </a:pPr>
            <a:r>
              <a:rPr lang="en-US" altLang="en-US" sz="1600" b="1" dirty="0">
                <a:ln>
                  <a:noFill/>
                </a:ln>
                <a:solidFill>
                  <a:schemeClr val="bg1"/>
                </a:solidFill>
                <a:effectLst/>
              </a:rPr>
              <a:t>Inter-Process Communication:</a:t>
            </a:r>
            <a:endParaRPr lang="en-US" altLang="en-US" sz="1600" dirty="0">
              <a:ln>
                <a:noFill/>
              </a:ln>
              <a:solidFill>
                <a:schemeClr val="bg1"/>
              </a:solidFill>
              <a:effectLst/>
            </a:endParaRPr>
          </a:p>
          <a:p>
            <a:pPr>
              <a:lnSpc>
                <a:spcPct val="100000"/>
              </a:lnSpc>
              <a:spcBef>
                <a:spcPts val="50"/>
              </a:spcBef>
              <a:spcAft>
                <a:spcPts val="50"/>
              </a:spcAft>
              <a:buFont typeface="Wingdings" panose="05000000000000000000" pitchFamily="2" charset="2"/>
              <a:buChar char="v"/>
            </a:pPr>
            <a:r>
              <a:rPr lang="en-US" altLang="en-US" sz="1600" b="1" dirty="0">
                <a:ln>
                  <a:noFill/>
                </a:ln>
                <a:solidFill>
                  <a:schemeClr val="bg1"/>
                </a:solidFill>
                <a:effectLst/>
              </a:rPr>
              <a:t>Create Communication Channel</a:t>
            </a:r>
            <a:r>
              <a:rPr lang="en-US" altLang="en-US" sz="1600" dirty="0">
                <a:ln>
                  <a:noFill/>
                </a:ln>
                <a:solidFill>
                  <a:schemeClr val="bg1"/>
                </a:solidFill>
                <a:effectLst/>
              </a:rPr>
              <a:t> — use the pipe() system call to set up an unnamed pipe between the parent and child 								  process after fork(). </a:t>
            </a:r>
          </a:p>
          <a:p>
            <a:pPr>
              <a:lnSpc>
                <a:spcPct val="100000"/>
              </a:lnSpc>
              <a:spcBef>
                <a:spcPts val="50"/>
              </a:spcBef>
              <a:spcAft>
                <a:spcPts val="50"/>
              </a:spcAft>
              <a:buFont typeface="Wingdings" panose="05000000000000000000" pitchFamily="2" charset="2"/>
              <a:buChar char="v"/>
            </a:pPr>
            <a:r>
              <a:rPr lang="en-US" altLang="en-US" sz="1600" b="1" dirty="0">
                <a:ln>
                  <a:noFill/>
                </a:ln>
                <a:solidFill>
                  <a:schemeClr val="bg1"/>
                </a:solidFill>
                <a:effectLst/>
              </a:rPr>
              <a:t>Send Player Actions to Game Master</a:t>
            </a:r>
            <a:r>
              <a:rPr lang="en-US" altLang="en-US" sz="1600" dirty="0">
                <a:ln>
                  <a:noFill/>
                </a:ln>
                <a:solidFill>
                  <a:schemeClr val="bg1"/>
                </a:solidFill>
                <a:effectLst/>
              </a:rPr>
              <a:t> — the child process (Player 2) uses write() on the pipe to transmit its moves. </a:t>
            </a:r>
          </a:p>
          <a:p>
            <a:pPr>
              <a:lnSpc>
                <a:spcPct val="100000"/>
              </a:lnSpc>
              <a:spcBef>
                <a:spcPts val="50"/>
              </a:spcBef>
              <a:spcAft>
                <a:spcPts val="50"/>
              </a:spcAft>
              <a:buFont typeface="Wingdings" panose="05000000000000000000" pitchFamily="2" charset="2"/>
              <a:buChar char="v"/>
            </a:pPr>
            <a:r>
              <a:rPr lang="en-US" altLang="en-US" sz="1600" b="1" dirty="0">
                <a:ln>
                  <a:noFill/>
                </a:ln>
                <a:solidFill>
                  <a:schemeClr val="bg1"/>
                </a:solidFill>
                <a:effectLst/>
              </a:rPr>
              <a:t>Receive &amp; Process Actions</a:t>
            </a:r>
            <a:r>
              <a:rPr lang="en-US" altLang="en-US" sz="1600" dirty="0">
                <a:ln>
                  <a:noFill/>
                </a:ln>
                <a:solidFill>
                  <a:schemeClr val="bg1"/>
                </a:solidFill>
                <a:effectLst/>
              </a:rPr>
              <a:t> — the parent process (Game Master + Player 1) uses read() on the pipe to receive Player 2’s 							moves, apply them to the game state, and manage the battle. </a:t>
            </a:r>
          </a:p>
          <a:p>
            <a:pPr>
              <a:lnSpc>
                <a:spcPct val="100000"/>
              </a:lnSpc>
              <a:spcBef>
                <a:spcPts val="50"/>
              </a:spcBef>
              <a:spcAft>
                <a:spcPts val="50"/>
              </a:spcAft>
              <a:buFont typeface="Wingdings" panose="05000000000000000000" pitchFamily="2" charset="2"/>
              <a:buChar char="v"/>
            </a:pPr>
            <a:endParaRPr lang="en-US" altLang="en-US" sz="1600" b="1" dirty="0">
              <a:ln>
                <a:noFill/>
              </a:ln>
              <a:solidFill>
                <a:schemeClr val="bg1"/>
              </a:solidFill>
              <a:effectLst/>
            </a:endParaRPr>
          </a:p>
          <a:p>
            <a:pPr marL="36900" indent="0">
              <a:lnSpc>
                <a:spcPct val="100000"/>
              </a:lnSpc>
              <a:spcBef>
                <a:spcPts val="50"/>
              </a:spcBef>
              <a:spcAft>
                <a:spcPts val="50"/>
              </a:spcAft>
              <a:buNone/>
            </a:pPr>
            <a:r>
              <a:rPr lang="en-US" altLang="en-US" sz="1600" b="1" dirty="0">
                <a:ln>
                  <a:noFill/>
                </a:ln>
                <a:solidFill>
                  <a:schemeClr val="bg1"/>
                </a:solidFill>
                <a:effectLst/>
              </a:rPr>
              <a:t>File I/O:</a:t>
            </a:r>
          </a:p>
          <a:p>
            <a:pPr>
              <a:lnSpc>
                <a:spcPct val="100000"/>
              </a:lnSpc>
              <a:spcBef>
                <a:spcPts val="50"/>
              </a:spcBef>
              <a:spcAft>
                <a:spcPts val="50"/>
              </a:spcAft>
              <a:buFont typeface="Wingdings" panose="05000000000000000000" pitchFamily="2" charset="2"/>
              <a:buChar char="v"/>
            </a:pPr>
            <a:r>
              <a:rPr lang="en-US" altLang="en-US" sz="1600" dirty="0">
                <a:ln>
                  <a:noFill/>
                </a:ln>
                <a:solidFill>
                  <a:schemeClr val="bg1"/>
                </a:solidFill>
                <a:effectLst/>
              </a:rPr>
              <a:t>Log Game Events — open a log file and use write to save battle actions.</a:t>
            </a:r>
          </a:p>
          <a:p>
            <a:pPr>
              <a:lnSpc>
                <a:spcPct val="100000"/>
              </a:lnSpc>
              <a:spcBef>
                <a:spcPts val="50"/>
              </a:spcBef>
              <a:spcAft>
                <a:spcPts val="50"/>
              </a:spcAft>
              <a:buFont typeface="Wingdings" panose="05000000000000000000" pitchFamily="2" charset="2"/>
              <a:buChar char="v"/>
            </a:pPr>
            <a:r>
              <a:rPr lang="en-US" altLang="en-US" sz="1600" dirty="0">
                <a:ln>
                  <a:noFill/>
                </a:ln>
                <a:solidFill>
                  <a:schemeClr val="bg1"/>
                </a:solidFill>
                <a:effectLst/>
              </a:rPr>
              <a:t>Review Past Battles — use open + read to display previous game logs.</a:t>
            </a:r>
            <a:endParaRPr lang="en-US" altLang="en-US" sz="1600" dirty="0"/>
          </a:p>
          <a:p>
            <a:pPr marL="36900" indent="0" defTabSz="914400" eaLnBrk="0" fontAlgn="base" hangingPunct="0">
              <a:spcBef>
                <a:spcPct val="0"/>
              </a:spcBef>
              <a:spcAft>
                <a:spcPct val="0"/>
              </a:spcAft>
              <a:buNone/>
            </a:pPr>
            <a:r>
              <a:rPr lang="en-IN" sz="1600" b="1" i="1" dirty="0"/>
              <a:t>Outcome </a:t>
            </a:r>
            <a:r>
              <a:rPr lang="en-IN" sz="1600" dirty="0"/>
              <a:t>: A Fun game </a:t>
            </a:r>
            <a:r>
              <a:rPr lang="en-US" sz="1600" dirty="0"/>
              <a:t>simulation where processes (players) communicate via IPC, actions are logged in real time, and past 		 battles can be reviewed from saved logs.</a:t>
            </a:r>
            <a:endParaRPr lang="en-IN" sz="1600" dirty="0"/>
          </a:p>
        </p:txBody>
      </p:sp>
      <p:sp>
        <p:nvSpPr>
          <p:cNvPr id="7" name="Isosceles Triangle 6">
            <a:extLst>
              <a:ext uri="{FF2B5EF4-FFF2-40B4-BE49-F238E27FC236}">
                <a16:creationId xmlns:a16="http://schemas.microsoft.com/office/drawing/2014/main" id="{A29D6B54-6738-1DB8-AF14-D580F91C494A}"/>
              </a:ext>
            </a:extLst>
          </p:cNvPr>
          <p:cNvSpPr/>
          <p:nvPr/>
        </p:nvSpPr>
        <p:spPr>
          <a:xfrm flipV="1">
            <a:off x="9858374" y="9526"/>
            <a:ext cx="2333626" cy="857250"/>
          </a:xfrm>
          <a:prstGeom prst="triangle">
            <a:avLst>
              <a:gd name="adj" fmla="val 100000"/>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Isosceles Triangle 4">
            <a:extLst>
              <a:ext uri="{FF2B5EF4-FFF2-40B4-BE49-F238E27FC236}">
                <a16:creationId xmlns:a16="http://schemas.microsoft.com/office/drawing/2014/main" id="{D0268732-A1E5-CCB8-2135-9B834263E0B1}"/>
              </a:ext>
            </a:extLst>
          </p:cNvPr>
          <p:cNvSpPr/>
          <p:nvPr/>
        </p:nvSpPr>
        <p:spPr>
          <a:xfrm rot="10800000" flipV="1">
            <a:off x="0" y="6000750"/>
            <a:ext cx="2333626" cy="857250"/>
          </a:xfrm>
          <a:prstGeom prst="triangle">
            <a:avLst>
              <a:gd name="adj" fmla="val 100000"/>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6340758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D4814A-72B9-67ED-476C-70A5C8F1E4DA}"/>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6F4C537E-4D79-AC61-0FA4-20C37DFBAC9B}"/>
              </a:ext>
            </a:extLst>
          </p:cNvPr>
          <p:cNvSpPr/>
          <p:nvPr/>
        </p:nvSpPr>
        <p:spPr>
          <a:xfrm>
            <a:off x="847119" y="762000"/>
            <a:ext cx="10687655" cy="5543550"/>
          </a:xfrm>
          <a:prstGeom prst="roundRect">
            <a:avLst>
              <a:gd name="adj" fmla="val 11345"/>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 name="Title 1">
            <a:extLst>
              <a:ext uri="{FF2B5EF4-FFF2-40B4-BE49-F238E27FC236}">
                <a16:creationId xmlns:a16="http://schemas.microsoft.com/office/drawing/2014/main" id="{90B641D7-BEEB-1D41-43D8-ACCB5DEB8591}"/>
              </a:ext>
            </a:extLst>
          </p:cNvPr>
          <p:cNvSpPr>
            <a:spLocks noGrp="1"/>
          </p:cNvSpPr>
          <p:nvPr>
            <p:ph type="title"/>
          </p:nvPr>
        </p:nvSpPr>
        <p:spPr>
          <a:xfrm>
            <a:off x="919119" y="-183356"/>
            <a:ext cx="10353762" cy="1257300"/>
          </a:xfrm>
        </p:spPr>
        <p:txBody>
          <a:bodyPr>
            <a:normAutofit/>
          </a:bodyPr>
          <a:lstStyle/>
          <a:p>
            <a:pPr algn="l"/>
            <a:r>
              <a:rPr lang="en-IN" sz="4800" dirty="0"/>
              <a:t>Implementation:</a:t>
            </a:r>
          </a:p>
        </p:txBody>
      </p:sp>
      <p:sp>
        <p:nvSpPr>
          <p:cNvPr id="3" name="Content Placeholder 2">
            <a:extLst>
              <a:ext uri="{FF2B5EF4-FFF2-40B4-BE49-F238E27FC236}">
                <a16:creationId xmlns:a16="http://schemas.microsoft.com/office/drawing/2014/main" id="{0E7C0A3B-0967-7B39-1CD7-059F82558DA7}"/>
              </a:ext>
            </a:extLst>
          </p:cNvPr>
          <p:cNvSpPr>
            <a:spLocks noGrp="1"/>
          </p:cNvSpPr>
          <p:nvPr>
            <p:ph idx="1"/>
          </p:nvPr>
        </p:nvSpPr>
        <p:spPr>
          <a:xfrm>
            <a:off x="991118" y="866776"/>
            <a:ext cx="10615655" cy="4809684"/>
          </a:xfrm>
          <a:noFill/>
          <a:ln>
            <a:noFill/>
          </a:ln>
        </p:spPr>
        <p:style>
          <a:lnRef idx="2">
            <a:schemeClr val="dk1"/>
          </a:lnRef>
          <a:fillRef idx="1">
            <a:schemeClr val="lt1"/>
          </a:fillRef>
          <a:effectRef idx="0">
            <a:schemeClr val="dk1"/>
          </a:effectRef>
          <a:fontRef idx="minor">
            <a:schemeClr val="dk1"/>
          </a:fontRef>
        </p:style>
        <p:txBody>
          <a:bodyPr>
            <a:noAutofit/>
          </a:bodyPr>
          <a:lstStyle/>
          <a:p>
            <a:pPr marL="0" lvl="0" indent="0" defTabSz="914400" eaLnBrk="0" fontAlgn="base" hangingPunct="0">
              <a:lnSpc>
                <a:spcPct val="100000"/>
              </a:lnSpc>
              <a:spcBef>
                <a:spcPct val="0"/>
              </a:spcBef>
              <a:spcAft>
                <a:spcPct val="0"/>
              </a:spcAft>
              <a:buClrTx/>
              <a:buSzTx/>
              <a:buNone/>
            </a:pPr>
            <a:r>
              <a:rPr lang="en-US" altLang="en-US" sz="1600" b="1" dirty="0">
                <a:ln>
                  <a:noFill/>
                </a:ln>
                <a:solidFill>
                  <a:schemeClr val="bg1"/>
                </a:solidFill>
                <a:effectLst/>
              </a:rPr>
              <a:t>Include headers &amp; define constants</a:t>
            </a:r>
          </a:p>
          <a:p>
            <a:pPr marL="285750" indent="-285750" defTabSz="914400" eaLnBrk="0" fontAlgn="base" hangingPunct="0">
              <a:lnSpc>
                <a:spcPct val="100000"/>
              </a:lnSpc>
              <a:spcBef>
                <a:spcPct val="0"/>
              </a:spcBef>
              <a:spcAft>
                <a:spcPct val="0"/>
              </a:spcAft>
              <a:buClrTx/>
              <a:buSzTx/>
            </a:pPr>
            <a:r>
              <a:rPr lang="en-US" altLang="en-US" sz="1600" dirty="0">
                <a:ln>
                  <a:noFill/>
                </a:ln>
                <a:solidFill>
                  <a:schemeClr val="bg1"/>
                </a:solidFill>
                <a:effectLst/>
              </a:rPr>
              <a:t>Standard libraries included for I/O, process control, and file handling. MAX_HEALTH constant set to 100.</a:t>
            </a:r>
          </a:p>
          <a:p>
            <a:pPr marL="0" lvl="0" indent="0" defTabSz="914400" eaLnBrk="0" fontAlgn="base" hangingPunct="0">
              <a:lnSpc>
                <a:spcPct val="100000"/>
              </a:lnSpc>
              <a:spcBef>
                <a:spcPct val="0"/>
              </a:spcBef>
              <a:spcAft>
                <a:spcPct val="0"/>
              </a:spcAft>
              <a:buClrTx/>
              <a:buSzTx/>
              <a:buNone/>
            </a:pPr>
            <a:r>
              <a:rPr lang="en-US" altLang="en-US" sz="1600" b="1" dirty="0">
                <a:ln>
                  <a:noFill/>
                </a:ln>
                <a:solidFill>
                  <a:schemeClr val="bg1"/>
                </a:solidFill>
                <a:effectLst/>
              </a:rPr>
              <a:t>Define Move struct</a:t>
            </a:r>
          </a:p>
          <a:p>
            <a:pPr marL="285750" indent="-285750" defTabSz="914400" eaLnBrk="0" fontAlgn="base" hangingPunct="0">
              <a:lnSpc>
                <a:spcPct val="100000"/>
              </a:lnSpc>
              <a:spcBef>
                <a:spcPct val="0"/>
              </a:spcBef>
              <a:spcAft>
                <a:spcPct val="0"/>
              </a:spcAft>
              <a:buClrTx/>
              <a:buSzTx/>
            </a:pPr>
            <a:r>
              <a:rPr lang="en-US" altLang="en-US" sz="1600" dirty="0">
                <a:ln>
                  <a:noFill/>
                </a:ln>
                <a:solidFill>
                  <a:schemeClr val="bg1"/>
                </a:solidFill>
                <a:effectLst/>
              </a:rPr>
              <a:t>Holds info about a player’s action: attacker, damage, heal.</a:t>
            </a:r>
          </a:p>
          <a:p>
            <a:pPr marL="0" lvl="0" indent="0" defTabSz="914400" eaLnBrk="0" fontAlgn="base" hangingPunct="0">
              <a:lnSpc>
                <a:spcPct val="100000"/>
              </a:lnSpc>
              <a:spcBef>
                <a:spcPct val="0"/>
              </a:spcBef>
              <a:spcAft>
                <a:spcPct val="0"/>
              </a:spcAft>
              <a:buClrTx/>
              <a:buSzTx/>
              <a:buNone/>
            </a:pPr>
            <a:r>
              <a:rPr lang="en-US" altLang="en-US" sz="1600" b="1" dirty="0">
                <a:ln>
                  <a:noFill/>
                </a:ln>
                <a:solidFill>
                  <a:schemeClr val="bg1"/>
                </a:solidFill>
                <a:effectLst/>
              </a:rPr>
              <a:t>Player action function (</a:t>
            </a:r>
            <a:r>
              <a:rPr lang="en-US" altLang="en-US" sz="1600" b="1" dirty="0" err="1">
                <a:ln>
                  <a:noFill/>
                </a:ln>
                <a:solidFill>
                  <a:schemeClr val="bg1"/>
                </a:solidFill>
                <a:effectLst/>
              </a:rPr>
              <a:t>player_action</a:t>
            </a:r>
            <a:r>
              <a:rPr lang="en-US" altLang="en-US" sz="1600" b="1" dirty="0">
                <a:ln>
                  <a:noFill/>
                </a:ln>
                <a:solidFill>
                  <a:schemeClr val="bg1"/>
                </a:solidFill>
                <a:effectLst/>
              </a:rPr>
              <a:t>) : </a:t>
            </a:r>
            <a:r>
              <a:rPr lang="en-US" altLang="en-US" sz="1600" dirty="0">
                <a:ln>
                  <a:noFill/>
                </a:ln>
                <a:solidFill>
                  <a:schemeClr val="bg1"/>
                </a:solidFill>
                <a:effectLst/>
              </a:rPr>
              <a:t>Randomly decides whether the player attacks or heals.</a:t>
            </a:r>
          </a:p>
          <a:p>
            <a:pPr marL="285750" indent="-285750" defTabSz="914400" eaLnBrk="0" fontAlgn="base" hangingPunct="0">
              <a:lnSpc>
                <a:spcPct val="100000"/>
              </a:lnSpc>
              <a:spcBef>
                <a:spcPct val="0"/>
              </a:spcBef>
              <a:spcAft>
                <a:spcPct val="0"/>
              </a:spcAft>
              <a:buClrTx/>
              <a:buSzTx/>
            </a:pPr>
            <a:r>
              <a:rPr lang="en-US" altLang="en-US" sz="1600" dirty="0">
                <a:ln>
                  <a:noFill/>
                </a:ln>
                <a:solidFill>
                  <a:schemeClr val="bg1"/>
                </a:solidFill>
                <a:effectLst/>
              </a:rPr>
              <a:t>Attack → random damage (1–20).</a:t>
            </a:r>
          </a:p>
          <a:p>
            <a:pPr marL="285750" indent="-285750" defTabSz="914400" eaLnBrk="0" fontAlgn="base" hangingPunct="0">
              <a:lnSpc>
                <a:spcPct val="100000"/>
              </a:lnSpc>
              <a:spcBef>
                <a:spcPct val="0"/>
              </a:spcBef>
              <a:spcAft>
                <a:spcPct val="0"/>
              </a:spcAft>
              <a:buClrTx/>
              <a:buSzTx/>
            </a:pPr>
            <a:r>
              <a:rPr lang="en-US" altLang="en-US" sz="1600" dirty="0">
                <a:ln>
                  <a:noFill/>
                </a:ln>
                <a:solidFill>
                  <a:schemeClr val="bg1"/>
                </a:solidFill>
                <a:effectLst/>
              </a:rPr>
              <a:t>Heal → random heal (1–15).</a:t>
            </a:r>
          </a:p>
          <a:p>
            <a:pPr marL="0" lvl="0" indent="0" defTabSz="914400" eaLnBrk="0" fontAlgn="base" hangingPunct="0">
              <a:lnSpc>
                <a:spcPct val="100000"/>
              </a:lnSpc>
              <a:spcBef>
                <a:spcPct val="0"/>
              </a:spcBef>
              <a:spcAft>
                <a:spcPct val="0"/>
              </a:spcAft>
              <a:buClrTx/>
              <a:buSzTx/>
              <a:buNone/>
            </a:pPr>
            <a:r>
              <a:rPr lang="en-US" altLang="en-US" sz="1600" b="1" dirty="0">
                <a:ln>
                  <a:noFill/>
                </a:ln>
                <a:solidFill>
                  <a:schemeClr val="bg1"/>
                </a:solidFill>
                <a:effectLst/>
              </a:rPr>
              <a:t>Logging function (</a:t>
            </a:r>
            <a:r>
              <a:rPr lang="en-US" altLang="en-US" sz="1600" b="1" dirty="0" err="1">
                <a:ln>
                  <a:noFill/>
                </a:ln>
                <a:solidFill>
                  <a:schemeClr val="bg1"/>
                </a:solidFill>
                <a:effectLst/>
              </a:rPr>
              <a:t>log_move</a:t>
            </a:r>
            <a:r>
              <a:rPr lang="en-US" altLang="en-US" sz="1600" b="1" dirty="0">
                <a:ln>
                  <a:noFill/>
                </a:ln>
                <a:solidFill>
                  <a:schemeClr val="bg1"/>
                </a:solidFill>
                <a:effectLst/>
              </a:rPr>
              <a:t>)</a:t>
            </a:r>
          </a:p>
          <a:p>
            <a:pPr marL="285750" indent="-285750" defTabSz="914400" eaLnBrk="0" fontAlgn="base" hangingPunct="0">
              <a:lnSpc>
                <a:spcPct val="100000"/>
              </a:lnSpc>
              <a:spcBef>
                <a:spcPct val="0"/>
              </a:spcBef>
              <a:spcAft>
                <a:spcPct val="0"/>
              </a:spcAft>
              <a:buClrTx/>
              <a:buSzTx/>
            </a:pPr>
            <a:r>
              <a:rPr lang="en-US" altLang="en-US" sz="1600" dirty="0">
                <a:ln>
                  <a:noFill/>
                </a:ln>
                <a:solidFill>
                  <a:schemeClr val="bg1"/>
                </a:solidFill>
                <a:effectLst/>
              </a:rPr>
              <a:t>Opens/creates battle_log.txt. Appends a message describing the move (attack or heal).</a:t>
            </a:r>
          </a:p>
          <a:p>
            <a:pPr marL="0" indent="0" defTabSz="914400" eaLnBrk="0" fontAlgn="base" hangingPunct="0">
              <a:lnSpc>
                <a:spcPct val="100000"/>
              </a:lnSpc>
              <a:spcBef>
                <a:spcPct val="0"/>
              </a:spcBef>
              <a:spcAft>
                <a:spcPct val="0"/>
              </a:spcAft>
              <a:buClrTx/>
              <a:buSzTx/>
              <a:buNone/>
            </a:pPr>
            <a:r>
              <a:rPr lang="en-US" altLang="en-US" sz="1600" b="1" dirty="0">
                <a:ln>
                  <a:noFill/>
                </a:ln>
                <a:solidFill>
                  <a:schemeClr val="bg1"/>
                </a:solidFill>
                <a:effectLst/>
              </a:rPr>
              <a:t>Create pipe for IPC</a:t>
            </a:r>
          </a:p>
          <a:p>
            <a:pPr marL="285750" indent="-285750" defTabSz="914400" eaLnBrk="0" fontAlgn="base" hangingPunct="0">
              <a:lnSpc>
                <a:spcPct val="100000"/>
              </a:lnSpc>
              <a:spcBef>
                <a:spcPct val="0"/>
              </a:spcBef>
              <a:spcAft>
                <a:spcPct val="0"/>
              </a:spcAft>
              <a:buClrTx/>
              <a:buSzTx/>
            </a:pPr>
            <a:r>
              <a:rPr lang="en-US" altLang="en-US" sz="1600" dirty="0">
                <a:ln>
                  <a:noFill/>
                </a:ln>
                <a:solidFill>
                  <a:schemeClr val="bg1"/>
                </a:solidFill>
                <a:effectLst/>
              </a:rPr>
              <a:t>pipe(</a:t>
            </a:r>
            <a:r>
              <a:rPr lang="en-US" altLang="en-US" sz="1600" dirty="0" err="1">
                <a:ln>
                  <a:noFill/>
                </a:ln>
                <a:solidFill>
                  <a:schemeClr val="bg1"/>
                </a:solidFill>
                <a:effectLst/>
              </a:rPr>
              <a:t>pipefd</a:t>
            </a:r>
            <a:r>
              <a:rPr lang="en-US" altLang="en-US" sz="1600" dirty="0">
                <a:ln>
                  <a:noFill/>
                </a:ln>
                <a:solidFill>
                  <a:schemeClr val="bg1"/>
                </a:solidFill>
                <a:effectLst/>
              </a:rPr>
              <a:t>) creates an unnamed pipe. Enables communication between parent and child processes.</a:t>
            </a:r>
          </a:p>
          <a:p>
            <a:pPr marL="0" indent="0" defTabSz="914400" eaLnBrk="0" fontAlgn="base" hangingPunct="0">
              <a:lnSpc>
                <a:spcPct val="100000"/>
              </a:lnSpc>
              <a:spcBef>
                <a:spcPct val="0"/>
              </a:spcBef>
              <a:spcAft>
                <a:spcPct val="0"/>
              </a:spcAft>
              <a:buClrTx/>
              <a:buSzTx/>
              <a:buNone/>
            </a:pPr>
            <a:r>
              <a:rPr lang="en-US" altLang="en-US" sz="1600" b="1" dirty="0">
                <a:ln>
                  <a:noFill/>
                </a:ln>
                <a:solidFill>
                  <a:schemeClr val="bg1"/>
                </a:solidFill>
                <a:effectLst/>
              </a:rPr>
              <a:t>Fork process</a:t>
            </a:r>
          </a:p>
          <a:p>
            <a:pPr marL="285750" indent="-285750" defTabSz="914400" eaLnBrk="0" fontAlgn="base" hangingPunct="0">
              <a:lnSpc>
                <a:spcPct val="100000"/>
              </a:lnSpc>
              <a:spcBef>
                <a:spcPct val="0"/>
              </a:spcBef>
              <a:spcAft>
                <a:spcPct val="0"/>
              </a:spcAft>
              <a:buClrTx/>
              <a:buSzTx/>
            </a:pPr>
            <a:r>
              <a:rPr lang="en-US" altLang="en-US" sz="1600" dirty="0">
                <a:ln>
                  <a:noFill/>
                </a:ln>
                <a:solidFill>
                  <a:schemeClr val="bg1"/>
                </a:solidFill>
                <a:effectLst/>
              </a:rPr>
              <a:t>Child process = Player 2.   </a:t>
            </a:r>
            <a:r>
              <a:rPr lang="en-US" altLang="en-US" sz="1600" b="1" dirty="0" err="1">
                <a:ln>
                  <a:noFill/>
                </a:ln>
                <a:solidFill>
                  <a:schemeClr val="bg1"/>
                </a:solidFill>
                <a:effectLst/>
              </a:rPr>
              <a:t>Child</a:t>
            </a:r>
            <a:r>
              <a:rPr lang="en-US" altLang="en-US" sz="1600" dirty="0" err="1">
                <a:solidFill>
                  <a:schemeClr val="bg1"/>
                </a:solidFill>
              </a:rPr>
              <a:t>Parent</a:t>
            </a:r>
            <a:r>
              <a:rPr lang="en-US" altLang="en-US" sz="1600" dirty="0">
                <a:solidFill>
                  <a:schemeClr val="bg1"/>
                </a:solidFill>
              </a:rPr>
              <a:t> process = Game Master + Player 1.</a:t>
            </a:r>
          </a:p>
          <a:p>
            <a:pPr marL="0" indent="0" defTabSz="914400" eaLnBrk="0" fontAlgn="base" hangingPunct="0">
              <a:lnSpc>
                <a:spcPct val="100000"/>
              </a:lnSpc>
              <a:spcBef>
                <a:spcPct val="0"/>
              </a:spcBef>
              <a:spcAft>
                <a:spcPct val="0"/>
              </a:spcAft>
              <a:buClrTx/>
              <a:buSzTx/>
              <a:buNone/>
            </a:pPr>
            <a:r>
              <a:rPr lang="en-US" altLang="en-US" sz="1600" b="1" dirty="0">
                <a:ln>
                  <a:noFill/>
                </a:ln>
                <a:solidFill>
                  <a:schemeClr val="bg1"/>
                </a:solidFill>
                <a:effectLst/>
              </a:rPr>
              <a:t>Process (Player 2)</a:t>
            </a:r>
          </a:p>
          <a:p>
            <a:pPr marL="285750" indent="-285750" defTabSz="914400" eaLnBrk="0" fontAlgn="base" hangingPunct="0">
              <a:lnSpc>
                <a:spcPct val="100000"/>
              </a:lnSpc>
              <a:spcBef>
                <a:spcPct val="0"/>
              </a:spcBef>
              <a:spcAft>
                <a:spcPct val="0"/>
              </a:spcAft>
              <a:buClrTx/>
              <a:buSzTx/>
            </a:pPr>
            <a:r>
              <a:rPr lang="en-US" altLang="en-US" sz="1600" dirty="0">
                <a:ln>
                  <a:noFill/>
                </a:ln>
                <a:solidFill>
                  <a:schemeClr val="bg1"/>
                </a:solidFill>
                <a:effectLst/>
              </a:rPr>
              <a:t>Closes read end of the pipe. Continuously generates moves with </a:t>
            </a:r>
            <a:r>
              <a:rPr lang="en-US" altLang="en-US" sz="1600" dirty="0" err="1">
                <a:ln>
                  <a:noFill/>
                </a:ln>
                <a:solidFill>
                  <a:schemeClr val="bg1"/>
                </a:solidFill>
                <a:effectLst/>
              </a:rPr>
              <a:t>player_action</a:t>
            </a:r>
            <a:r>
              <a:rPr lang="en-US" altLang="en-US" sz="1600" dirty="0">
                <a:ln>
                  <a:noFill/>
                </a:ln>
                <a:solidFill>
                  <a:schemeClr val="bg1"/>
                </a:solidFill>
                <a:effectLst/>
              </a:rPr>
              <a:t>().</a:t>
            </a:r>
          </a:p>
          <a:p>
            <a:pPr marL="285750" indent="-285750" defTabSz="914400" eaLnBrk="0" fontAlgn="base" hangingPunct="0">
              <a:lnSpc>
                <a:spcPct val="100000"/>
              </a:lnSpc>
              <a:spcBef>
                <a:spcPct val="0"/>
              </a:spcBef>
              <a:spcAft>
                <a:spcPct val="0"/>
              </a:spcAft>
              <a:buClrTx/>
              <a:buSzTx/>
            </a:pPr>
            <a:r>
              <a:rPr lang="en-US" altLang="en-US" sz="1600" dirty="0">
                <a:ln>
                  <a:noFill/>
                </a:ln>
                <a:solidFill>
                  <a:schemeClr val="bg1"/>
                </a:solidFill>
                <a:effectLst/>
              </a:rPr>
              <a:t>Sends moves to parent through write(</a:t>
            </a:r>
            <a:r>
              <a:rPr lang="en-US" altLang="en-US" sz="1600" dirty="0" err="1">
                <a:ln>
                  <a:noFill/>
                </a:ln>
                <a:solidFill>
                  <a:schemeClr val="bg1"/>
                </a:solidFill>
                <a:effectLst/>
              </a:rPr>
              <a:t>pipefd</a:t>
            </a:r>
            <a:r>
              <a:rPr lang="en-US" altLang="en-US" sz="1600" dirty="0">
                <a:ln>
                  <a:noFill/>
                </a:ln>
                <a:solidFill>
                  <a:schemeClr val="bg1"/>
                </a:solidFill>
                <a:effectLst/>
              </a:rPr>
              <a:t>[1], &amp;move, </a:t>
            </a:r>
            <a:r>
              <a:rPr lang="en-US" altLang="en-US" sz="1600" dirty="0" err="1">
                <a:ln>
                  <a:noFill/>
                </a:ln>
                <a:solidFill>
                  <a:schemeClr val="bg1"/>
                </a:solidFill>
                <a:effectLst/>
              </a:rPr>
              <a:t>sizeof</a:t>
            </a:r>
            <a:r>
              <a:rPr lang="en-US" altLang="en-US" sz="1600" dirty="0">
                <a:ln>
                  <a:noFill/>
                </a:ln>
                <a:solidFill>
                  <a:schemeClr val="bg1"/>
                </a:solidFill>
                <a:effectLst/>
              </a:rPr>
              <a:t>(Move)).</a:t>
            </a:r>
          </a:p>
          <a:p>
            <a:pPr marL="0" lvl="0" indent="0" defTabSz="914400" eaLnBrk="0" fontAlgn="base" hangingPunct="0">
              <a:lnSpc>
                <a:spcPct val="100000"/>
              </a:lnSpc>
              <a:spcBef>
                <a:spcPct val="0"/>
              </a:spcBef>
              <a:spcAft>
                <a:spcPct val="0"/>
              </a:spcAft>
              <a:buClrTx/>
              <a:buSzTx/>
              <a:buNone/>
            </a:pPr>
            <a:r>
              <a:rPr lang="en-US" altLang="en-US" sz="1600" b="1" dirty="0">
                <a:ln>
                  <a:noFill/>
                </a:ln>
                <a:solidFill>
                  <a:schemeClr val="bg1"/>
                </a:solidFill>
                <a:effectLst/>
              </a:rPr>
              <a:t>Parent process (Player 1 + Game Master)</a:t>
            </a:r>
          </a:p>
          <a:p>
            <a:pPr marL="285750" indent="-285750" defTabSz="914400" eaLnBrk="0" fontAlgn="base" hangingPunct="0">
              <a:lnSpc>
                <a:spcPct val="100000"/>
              </a:lnSpc>
              <a:spcBef>
                <a:spcPct val="0"/>
              </a:spcBef>
              <a:spcAft>
                <a:spcPct val="0"/>
              </a:spcAft>
              <a:buClrTx/>
              <a:buSzTx/>
            </a:pPr>
            <a:r>
              <a:rPr lang="en-US" altLang="en-US" sz="1600" dirty="0">
                <a:ln>
                  <a:noFill/>
                </a:ln>
                <a:solidFill>
                  <a:schemeClr val="bg1"/>
                </a:solidFill>
                <a:effectLst/>
              </a:rPr>
              <a:t>Closes write end of the pipe. Runs game loop while both players’ health &gt; 0. Executes Player 1’s move locally (attack reduces P2 health, heal increases P1 health). Logs move and prints health. Reads Player 2’s move from pipe using read(). Updates health accordingly and logs it.</a:t>
            </a:r>
          </a:p>
          <a:p>
            <a:pPr marL="285750" indent="-285750" defTabSz="914400" eaLnBrk="0" fontAlgn="base" hangingPunct="0">
              <a:lnSpc>
                <a:spcPct val="100000"/>
              </a:lnSpc>
              <a:spcBef>
                <a:spcPct val="0"/>
              </a:spcBef>
              <a:spcAft>
                <a:spcPct val="0"/>
              </a:spcAft>
              <a:buClrTx/>
              <a:buSzTx/>
            </a:pPr>
            <a:r>
              <a:rPr lang="en-US" altLang="en-US" sz="1600" b="1" dirty="0">
                <a:ln>
                  <a:noFill/>
                </a:ln>
                <a:solidFill>
                  <a:schemeClr val="bg1"/>
                </a:solidFill>
                <a:effectLst/>
              </a:rPr>
              <a:t>Game termination </a:t>
            </a:r>
            <a:r>
              <a:rPr lang="en-US" altLang="en-US" sz="1600" dirty="0">
                <a:ln>
                  <a:noFill/>
                </a:ln>
                <a:solidFill>
                  <a:schemeClr val="bg1"/>
                </a:solidFill>
                <a:effectLst/>
              </a:rPr>
              <a:t>Loop ends when either player’s health ≤ 0. Parent announces the winner (Player 1 wins! or Player wins!).</a:t>
            </a:r>
          </a:p>
          <a:p>
            <a:pPr marL="0" lvl="0" indent="0" defTabSz="914400" eaLnBrk="0" fontAlgn="base" hangingPunct="0">
              <a:lnSpc>
                <a:spcPct val="100000"/>
              </a:lnSpc>
              <a:spcBef>
                <a:spcPct val="0"/>
              </a:spcBef>
              <a:spcAft>
                <a:spcPct val="0"/>
              </a:spcAft>
              <a:buClrTx/>
              <a:buSzTx/>
              <a:buNone/>
            </a:pPr>
            <a:endParaRPr lang="en-US" altLang="en-US" sz="1600" dirty="0">
              <a:ln>
                <a:noFill/>
              </a:ln>
              <a:solidFill>
                <a:schemeClr val="bg1"/>
              </a:solidFill>
              <a:effectLst/>
            </a:endParaRPr>
          </a:p>
        </p:txBody>
      </p:sp>
      <p:sp>
        <p:nvSpPr>
          <p:cNvPr id="7" name="Isosceles Triangle 6">
            <a:extLst>
              <a:ext uri="{FF2B5EF4-FFF2-40B4-BE49-F238E27FC236}">
                <a16:creationId xmlns:a16="http://schemas.microsoft.com/office/drawing/2014/main" id="{05C00603-066F-FC3F-D258-9E9F1B86DCCC}"/>
              </a:ext>
            </a:extLst>
          </p:cNvPr>
          <p:cNvSpPr/>
          <p:nvPr/>
        </p:nvSpPr>
        <p:spPr>
          <a:xfrm flipV="1">
            <a:off x="9858374" y="9526"/>
            <a:ext cx="2333626" cy="857250"/>
          </a:xfrm>
          <a:prstGeom prst="triangle">
            <a:avLst>
              <a:gd name="adj" fmla="val 100000"/>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Isosceles Triangle 4">
            <a:extLst>
              <a:ext uri="{FF2B5EF4-FFF2-40B4-BE49-F238E27FC236}">
                <a16:creationId xmlns:a16="http://schemas.microsoft.com/office/drawing/2014/main" id="{8E855E9D-03EA-102A-C2E0-C3ED3740921E}"/>
              </a:ext>
            </a:extLst>
          </p:cNvPr>
          <p:cNvSpPr/>
          <p:nvPr/>
        </p:nvSpPr>
        <p:spPr>
          <a:xfrm rot="10800000" flipV="1">
            <a:off x="0" y="6000750"/>
            <a:ext cx="2333626" cy="857250"/>
          </a:xfrm>
          <a:prstGeom prst="triangle">
            <a:avLst>
              <a:gd name="adj" fmla="val 100000"/>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1791558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318AC6-68ED-8E31-98C2-90327EEA829A}"/>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447B2626-843D-E256-B513-CDF687772DAC}"/>
              </a:ext>
            </a:extLst>
          </p:cNvPr>
          <p:cNvSpPr/>
          <p:nvPr/>
        </p:nvSpPr>
        <p:spPr>
          <a:xfrm>
            <a:off x="847119" y="1281112"/>
            <a:ext cx="5020281" cy="4900613"/>
          </a:xfrm>
          <a:prstGeom prst="roundRect">
            <a:avLst>
              <a:gd name="adj" fmla="val 11345"/>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bg1"/>
              </a:solidFill>
            </a:endParaRPr>
          </a:p>
        </p:txBody>
      </p:sp>
      <p:sp>
        <p:nvSpPr>
          <p:cNvPr id="2" name="Title 1">
            <a:extLst>
              <a:ext uri="{FF2B5EF4-FFF2-40B4-BE49-F238E27FC236}">
                <a16:creationId xmlns:a16="http://schemas.microsoft.com/office/drawing/2014/main" id="{48AA0DD9-2E71-F327-711B-E39CE91D16A8}"/>
              </a:ext>
            </a:extLst>
          </p:cNvPr>
          <p:cNvSpPr>
            <a:spLocks noGrp="1"/>
          </p:cNvSpPr>
          <p:nvPr>
            <p:ph type="title"/>
          </p:nvPr>
        </p:nvSpPr>
        <p:spPr>
          <a:xfrm>
            <a:off x="847119" y="133791"/>
            <a:ext cx="10353762" cy="1257300"/>
          </a:xfrm>
        </p:spPr>
        <p:txBody>
          <a:bodyPr>
            <a:normAutofit/>
          </a:bodyPr>
          <a:lstStyle/>
          <a:p>
            <a:pPr algn="l"/>
            <a:r>
              <a:rPr lang="en-US" altLang="en-US" sz="4800" dirty="0">
                <a:ln>
                  <a:noFill/>
                </a:ln>
                <a:latin typeface="+mn-lt"/>
              </a:rPr>
              <a:t>Game Mechanics : Process Actions </a:t>
            </a:r>
            <a:r>
              <a:rPr lang="en-IN" sz="4800" dirty="0">
                <a:latin typeface="+mn-lt"/>
              </a:rPr>
              <a:t>:</a:t>
            </a:r>
          </a:p>
        </p:txBody>
      </p:sp>
      <p:sp>
        <p:nvSpPr>
          <p:cNvPr id="3" name="Content Placeholder 2">
            <a:extLst>
              <a:ext uri="{FF2B5EF4-FFF2-40B4-BE49-F238E27FC236}">
                <a16:creationId xmlns:a16="http://schemas.microsoft.com/office/drawing/2014/main" id="{1D1A6470-F3D2-6078-1A31-C8F20A160E39}"/>
              </a:ext>
            </a:extLst>
          </p:cNvPr>
          <p:cNvSpPr>
            <a:spLocks noGrp="1"/>
          </p:cNvSpPr>
          <p:nvPr>
            <p:ph idx="1"/>
          </p:nvPr>
        </p:nvSpPr>
        <p:spPr>
          <a:xfrm>
            <a:off x="1014065" y="1501070"/>
            <a:ext cx="10353762" cy="4499680"/>
          </a:xfrm>
          <a:noFill/>
          <a:ln>
            <a:noFill/>
          </a:ln>
        </p:spPr>
        <p:style>
          <a:lnRef idx="2">
            <a:schemeClr val="dk1"/>
          </a:lnRef>
          <a:fillRef idx="1">
            <a:schemeClr val="lt1"/>
          </a:fillRef>
          <a:effectRef idx="0">
            <a:schemeClr val="dk1"/>
          </a:effectRef>
          <a:fontRef idx="minor">
            <a:schemeClr val="dk1"/>
          </a:fontRef>
        </p:style>
        <p:txBody>
          <a:bodyPr>
            <a:noAutofit/>
          </a:bodyPr>
          <a:lstStyle/>
          <a:p>
            <a:pPr marL="0" lvl="0" indent="0" defTabSz="914400" eaLnBrk="0" fontAlgn="base" hangingPunct="0">
              <a:lnSpc>
                <a:spcPct val="100000"/>
              </a:lnSpc>
              <a:spcBef>
                <a:spcPct val="0"/>
              </a:spcBef>
              <a:spcAft>
                <a:spcPct val="0"/>
              </a:spcAft>
              <a:buClrTx/>
              <a:buSzTx/>
              <a:buFontTx/>
              <a:buChar char="•"/>
            </a:pPr>
            <a:endParaRPr lang="en-US" altLang="en-US" sz="1800" dirty="0"/>
          </a:p>
          <a:p>
            <a:pPr defTabSz="914400" eaLnBrk="0" fontAlgn="base" hangingPunct="0">
              <a:spcBef>
                <a:spcPct val="0"/>
              </a:spcBef>
              <a:spcAft>
                <a:spcPct val="0"/>
              </a:spcAft>
            </a:pPr>
            <a:r>
              <a:rPr lang="en-US" altLang="en-US" sz="1800" b="1" dirty="0">
                <a:ln>
                  <a:noFill/>
                </a:ln>
                <a:solidFill>
                  <a:schemeClr val="bg1"/>
                </a:solidFill>
                <a:effectLst/>
              </a:rPr>
              <a:t>Process Actions:</a:t>
            </a:r>
          </a:p>
          <a:p>
            <a:pPr lvl="0" defTabSz="914400" eaLnBrk="0" fontAlgn="base" hangingPunct="0">
              <a:spcBef>
                <a:spcPct val="0"/>
              </a:spcBef>
              <a:spcAft>
                <a:spcPct val="0"/>
              </a:spcAft>
              <a:buFontTx/>
              <a:buChar char="•"/>
            </a:pPr>
            <a:r>
              <a:rPr lang="en-US" altLang="en-US" sz="1800" dirty="0">
                <a:ln>
                  <a:noFill/>
                </a:ln>
                <a:solidFill>
                  <a:schemeClr val="bg1"/>
                </a:solidFill>
                <a:effectLst/>
              </a:rPr>
              <a:t>rand() % 2 randomly picks 0 or 1.</a:t>
            </a:r>
          </a:p>
          <a:p>
            <a:pPr lvl="0" defTabSz="914400" eaLnBrk="0" fontAlgn="base" hangingPunct="0">
              <a:spcBef>
                <a:spcPct val="0"/>
              </a:spcBef>
              <a:spcAft>
                <a:spcPct val="0"/>
              </a:spcAft>
              <a:buFontTx/>
              <a:buChar char="•"/>
            </a:pPr>
            <a:r>
              <a:rPr lang="en-US" altLang="en-US" sz="1800" dirty="0">
                <a:ln>
                  <a:noFill/>
                </a:ln>
                <a:solidFill>
                  <a:schemeClr val="bg1"/>
                </a:solidFill>
                <a:effectLst/>
              </a:rPr>
              <a:t>If 0 → player attacks, if 1 → player heals.</a:t>
            </a:r>
          </a:p>
          <a:p>
            <a:pPr lvl="0" defTabSz="914400" eaLnBrk="0" fontAlgn="base" hangingPunct="0">
              <a:spcBef>
                <a:spcPct val="0"/>
              </a:spcBef>
              <a:spcAft>
                <a:spcPct val="0"/>
              </a:spcAft>
              <a:buFontTx/>
              <a:buChar char="•"/>
            </a:pPr>
            <a:endParaRPr lang="en-US" altLang="en-US" sz="1800" dirty="0">
              <a:ln>
                <a:noFill/>
              </a:ln>
              <a:solidFill>
                <a:schemeClr val="bg1"/>
              </a:solidFill>
              <a:effectLst/>
            </a:endParaRPr>
          </a:p>
          <a:p>
            <a:pPr defTabSz="914400" eaLnBrk="0" fontAlgn="base" hangingPunct="0">
              <a:spcBef>
                <a:spcPct val="0"/>
              </a:spcBef>
              <a:spcAft>
                <a:spcPct val="0"/>
              </a:spcAft>
            </a:pPr>
            <a:r>
              <a:rPr lang="en-US" altLang="en-US" sz="1800" b="1" dirty="0">
                <a:effectLst/>
              </a:rPr>
              <a:t>Attack case:</a:t>
            </a:r>
            <a:endParaRPr lang="en-US" altLang="en-US" sz="1800" b="1" dirty="0"/>
          </a:p>
          <a:p>
            <a:pPr defTabSz="914400" eaLnBrk="0" fontAlgn="base" hangingPunct="0">
              <a:spcBef>
                <a:spcPct val="0"/>
              </a:spcBef>
              <a:spcAft>
                <a:spcPct val="0"/>
              </a:spcAft>
              <a:buFontTx/>
              <a:buChar char="•"/>
            </a:pPr>
            <a:r>
              <a:rPr lang="en-US" altLang="en-US" sz="1800" dirty="0"/>
              <a:t>Save attacker ID. No healing.</a:t>
            </a:r>
          </a:p>
          <a:p>
            <a:pPr lvl="0" defTabSz="914400" eaLnBrk="0" fontAlgn="base" hangingPunct="0">
              <a:spcBef>
                <a:spcPct val="0"/>
              </a:spcBef>
              <a:spcAft>
                <a:spcPct val="0"/>
              </a:spcAft>
              <a:buFontTx/>
              <a:buChar char="•"/>
            </a:pPr>
            <a:r>
              <a:rPr lang="en-US" altLang="en-US" sz="1800" dirty="0"/>
              <a:t>Assign random damage between </a:t>
            </a:r>
            <a:r>
              <a:rPr lang="en-US" altLang="en-US" sz="1800" b="1" dirty="0"/>
              <a:t>1–20</a:t>
            </a:r>
            <a:r>
              <a:rPr lang="en-US" altLang="en-US" sz="1800" dirty="0"/>
              <a:t>.</a:t>
            </a:r>
          </a:p>
          <a:p>
            <a:pPr marL="36900" lvl="0" indent="0" defTabSz="914400" eaLnBrk="0" fontAlgn="base" hangingPunct="0">
              <a:spcBef>
                <a:spcPct val="0"/>
              </a:spcBef>
              <a:spcAft>
                <a:spcPct val="0"/>
              </a:spcAft>
              <a:buNone/>
            </a:pPr>
            <a:endParaRPr lang="en-US" altLang="en-US" sz="1800" dirty="0"/>
          </a:p>
          <a:p>
            <a:r>
              <a:rPr lang="en-US" sz="1800" b="1" dirty="0"/>
              <a:t>Heal case:</a:t>
            </a:r>
          </a:p>
          <a:p>
            <a:pPr marL="285750" indent="-285750">
              <a:buFont typeface="Arial" panose="020B0604020202020204" pitchFamily="34" charset="0"/>
              <a:buChar char="•"/>
            </a:pPr>
            <a:r>
              <a:rPr lang="en-US" sz="1800" dirty="0"/>
              <a:t>Save attacker ID. No damage.</a:t>
            </a:r>
          </a:p>
          <a:p>
            <a:pPr marL="285750" indent="-285750">
              <a:buFont typeface="Arial" panose="020B0604020202020204" pitchFamily="34" charset="0"/>
              <a:buChar char="•"/>
            </a:pPr>
            <a:r>
              <a:rPr lang="en-US" sz="1800" dirty="0"/>
              <a:t>Assign random healing between </a:t>
            </a:r>
            <a:r>
              <a:rPr lang="en-US" sz="1800" b="1" dirty="0"/>
              <a:t>1–15</a:t>
            </a:r>
            <a:r>
              <a:rPr lang="en-US" sz="1800" dirty="0"/>
              <a:t>.</a:t>
            </a:r>
          </a:p>
        </p:txBody>
      </p:sp>
      <p:sp>
        <p:nvSpPr>
          <p:cNvPr id="7" name="Isosceles Triangle 6">
            <a:extLst>
              <a:ext uri="{FF2B5EF4-FFF2-40B4-BE49-F238E27FC236}">
                <a16:creationId xmlns:a16="http://schemas.microsoft.com/office/drawing/2014/main" id="{E24E65B8-619B-2F3D-20B2-133B44FEDF2D}"/>
              </a:ext>
            </a:extLst>
          </p:cNvPr>
          <p:cNvSpPr/>
          <p:nvPr/>
        </p:nvSpPr>
        <p:spPr>
          <a:xfrm flipV="1">
            <a:off x="9858374" y="9526"/>
            <a:ext cx="2333626" cy="857250"/>
          </a:xfrm>
          <a:prstGeom prst="triangle">
            <a:avLst>
              <a:gd name="adj" fmla="val 100000"/>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Isosceles Triangle 4">
            <a:extLst>
              <a:ext uri="{FF2B5EF4-FFF2-40B4-BE49-F238E27FC236}">
                <a16:creationId xmlns:a16="http://schemas.microsoft.com/office/drawing/2014/main" id="{466773D3-6DA9-AC0C-211C-6AF206C01C86}"/>
              </a:ext>
            </a:extLst>
          </p:cNvPr>
          <p:cNvSpPr/>
          <p:nvPr/>
        </p:nvSpPr>
        <p:spPr>
          <a:xfrm rot="10800000" flipV="1">
            <a:off x="0" y="6000750"/>
            <a:ext cx="2333626" cy="857250"/>
          </a:xfrm>
          <a:prstGeom prst="triangle">
            <a:avLst>
              <a:gd name="adj" fmla="val 100000"/>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6" name="Picture 5">
            <a:extLst>
              <a:ext uri="{FF2B5EF4-FFF2-40B4-BE49-F238E27FC236}">
                <a16:creationId xmlns:a16="http://schemas.microsoft.com/office/drawing/2014/main" id="{59288F67-C650-4405-4FD6-3265DDD4213C}"/>
              </a:ext>
            </a:extLst>
          </p:cNvPr>
          <p:cNvPicPr>
            <a:picLocks noChangeAspect="1"/>
          </p:cNvPicPr>
          <p:nvPr/>
        </p:nvPicPr>
        <p:blipFill>
          <a:blip r:embed="rId2"/>
          <a:stretch>
            <a:fillRect/>
          </a:stretch>
        </p:blipFill>
        <p:spPr>
          <a:xfrm>
            <a:off x="6236452" y="1203193"/>
            <a:ext cx="4964429" cy="5095434"/>
          </a:xfrm>
          <a:prstGeom prst="rect">
            <a:avLst/>
          </a:prstGeom>
          <a:ln>
            <a:solidFill>
              <a:schemeClr val="tx1"/>
            </a:solidFill>
          </a:ln>
        </p:spPr>
      </p:pic>
    </p:spTree>
    <p:extLst>
      <p:ext uri="{BB962C8B-B14F-4D97-AF65-F5344CB8AC3E}">
        <p14:creationId xmlns:p14="http://schemas.microsoft.com/office/powerpoint/2010/main" val="1842897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3822E4-E999-C5D4-9C63-6B769D7E22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CFB448-D18C-1F30-A46B-A52E1234D625}"/>
              </a:ext>
            </a:extLst>
          </p:cNvPr>
          <p:cNvSpPr>
            <a:spLocks noGrp="1"/>
          </p:cNvSpPr>
          <p:nvPr>
            <p:ph type="title"/>
          </p:nvPr>
        </p:nvSpPr>
        <p:spPr>
          <a:xfrm>
            <a:off x="847119" y="133791"/>
            <a:ext cx="10353762" cy="1257300"/>
          </a:xfrm>
        </p:spPr>
        <p:txBody>
          <a:bodyPr>
            <a:normAutofit/>
          </a:bodyPr>
          <a:lstStyle/>
          <a:p>
            <a:pPr algn="l"/>
            <a:r>
              <a:rPr lang="en-US" altLang="en-US" sz="4800" dirty="0">
                <a:ln>
                  <a:noFill/>
                </a:ln>
                <a:latin typeface="+mn-lt"/>
              </a:rPr>
              <a:t>Game Mechanics : Moving</a:t>
            </a:r>
            <a:r>
              <a:rPr lang="en-IN" sz="4800" dirty="0">
                <a:latin typeface="+mn-lt"/>
              </a:rPr>
              <a:t>:</a:t>
            </a:r>
          </a:p>
        </p:txBody>
      </p:sp>
      <p:sp>
        <p:nvSpPr>
          <p:cNvPr id="7" name="Isosceles Triangle 6">
            <a:extLst>
              <a:ext uri="{FF2B5EF4-FFF2-40B4-BE49-F238E27FC236}">
                <a16:creationId xmlns:a16="http://schemas.microsoft.com/office/drawing/2014/main" id="{1D01C390-C254-B6F6-9281-2758680A0CF8}"/>
              </a:ext>
            </a:extLst>
          </p:cNvPr>
          <p:cNvSpPr/>
          <p:nvPr/>
        </p:nvSpPr>
        <p:spPr>
          <a:xfrm flipV="1">
            <a:off x="9858374" y="9526"/>
            <a:ext cx="2333626" cy="857250"/>
          </a:xfrm>
          <a:prstGeom prst="triangle">
            <a:avLst>
              <a:gd name="adj" fmla="val 100000"/>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Isosceles Triangle 4">
            <a:extLst>
              <a:ext uri="{FF2B5EF4-FFF2-40B4-BE49-F238E27FC236}">
                <a16:creationId xmlns:a16="http://schemas.microsoft.com/office/drawing/2014/main" id="{3DE001A3-1C0A-CAB3-E06D-A2DFB170212F}"/>
              </a:ext>
            </a:extLst>
          </p:cNvPr>
          <p:cNvSpPr/>
          <p:nvPr/>
        </p:nvSpPr>
        <p:spPr>
          <a:xfrm rot="10800000" flipV="1">
            <a:off x="0" y="6000750"/>
            <a:ext cx="2333626" cy="857250"/>
          </a:xfrm>
          <a:prstGeom prst="triangle">
            <a:avLst>
              <a:gd name="adj" fmla="val 100000"/>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0" name="Picture 9">
            <a:extLst>
              <a:ext uri="{FF2B5EF4-FFF2-40B4-BE49-F238E27FC236}">
                <a16:creationId xmlns:a16="http://schemas.microsoft.com/office/drawing/2014/main" id="{6D66D372-39BA-E7F7-203E-17C699D48020}"/>
              </a:ext>
            </a:extLst>
          </p:cNvPr>
          <p:cNvPicPr>
            <a:picLocks noChangeAspect="1"/>
          </p:cNvPicPr>
          <p:nvPr/>
        </p:nvPicPr>
        <p:blipFill>
          <a:blip r:embed="rId2"/>
          <a:stretch>
            <a:fillRect/>
          </a:stretch>
        </p:blipFill>
        <p:spPr>
          <a:xfrm>
            <a:off x="1322783" y="1391091"/>
            <a:ext cx="9223255" cy="4786622"/>
          </a:xfrm>
          <a:prstGeom prst="rect">
            <a:avLst/>
          </a:prstGeom>
          <a:ln>
            <a:solidFill>
              <a:schemeClr val="tx1"/>
            </a:solidFill>
          </a:ln>
        </p:spPr>
      </p:pic>
    </p:spTree>
    <p:extLst>
      <p:ext uri="{BB962C8B-B14F-4D97-AF65-F5344CB8AC3E}">
        <p14:creationId xmlns:p14="http://schemas.microsoft.com/office/powerpoint/2010/main" val="24651444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55963B-72AB-1CDF-9D6B-C876C4D6F053}"/>
              </a:ext>
            </a:extLst>
          </p:cNvPr>
          <p:cNvSpPr>
            <a:spLocks noGrp="1"/>
          </p:cNvSpPr>
          <p:nvPr>
            <p:ph type="title"/>
          </p:nvPr>
        </p:nvSpPr>
        <p:spPr>
          <a:xfrm>
            <a:off x="751870" y="2428875"/>
            <a:ext cx="10353762" cy="1257300"/>
          </a:xfrm>
        </p:spPr>
        <p:txBody>
          <a:bodyPr/>
          <a:lstStyle/>
          <a:p>
            <a:r>
              <a:rPr lang="en-IN" dirty="0"/>
              <a:t>Thank You</a:t>
            </a:r>
          </a:p>
        </p:txBody>
      </p:sp>
      <p:sp>
        <p:nvSpPr>
          <p:cNvPr id="3" name="Isosceles Triangle 2">
            <a:extLst>
              <a:ext uri="{FF2B5EF4-FFF2-40B4-BE49-F238E27FC236}">
                <a16:creationId xmlns:a16="http://schemas.microsoft.com/office/drawing/2014/main" id="{C0F08030-658F-DD1C-28E4-D691B9345BED}"/>
              </a:ext>
            </a:extLst>
          </p:cNvPr>
          <p:cNvSpPr/>
          <p:nvPr/>
        </p:nvSpPr>
        <p:spPr>
          <a:xfrm rot="10800000" flipV="1">
            <a:off x="0" y="6000750"/>
            <a:ext cx="2333626" cy="857250"/>
          </a:xfrm>
          <a:prstGeom prst="triangle">
            <a:avLst>
              <a:gd name="adj" fmla="val 100000"/>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Isosceles Triangle 3">
            <a:extLst>
              <a:ext uri="{FF2B5EF4-FFF2-40B4-BE49-F238E27FC236}">
                <a16:creationId xmlns:a16="http://schemas.microsoft.com/office/drawing/2014/main" id="{F533E3E8-34AD-FA85-BB85-C6DB922924DB}"/>
              </a:ext>
            </a:extLst>
          </p:cNvPr>
          <p:cNvSpPr/>
          <p:nvPr/>
        </p:nvSpPr>
        <p:spPr>
          <a:xfrm flipV="1">
            <a:off x="9858374" y="9526"/>
            <a:ext cx="2333626" cy="857250"/>
          </a:xfrm>
          <a:prstGeom prst="triangle">
            <a:avLst>
              <a:gd name="adj" fmla="val 100000"/>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66660951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lateVTI">
  <a:themeElements>
    <a:clrScheme name="Custom 35">
      <a:dk1>
        <a:sysClr val="windowText" lastClr="000000"/>
      </a:dk1>
      <a:lt1>
        <a:sysClr val="window" lastClr="FFFFFF"/>
      </a:lt1>
      <a:dk2>
        <a:srgbClr val="4E3B30"/>
      </a:dk2>
      <a:lt2>
        <a:srgbClr val="F4EDD8"/>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fontScheme name="Custom 4">
      <a:majorFont>
        <a:latin typeface="Goudy Old Style"/>
        <a:ea typeface=""/>
        <a:cs typeface=""/>
      </a:majorFont>
      <a:minorFont>
        <a:latin typeface="Goudy Old Style"/>
        <a:ea typeface=""/>
        <a:cs typeface=""/>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VTI" id="{35C4A07C-0176-4A32-9BCB-B016516853F0}" vid="{9B70D35C-BCA8-4715-BB49-8BE54A7FC07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Green">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410dd7f93c95333ffa1b60ed6adedd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a936d9baba76aa3866493feff160faab"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64B270AB-C138-415C-897E-3C24487DECF1}">
  <ds:schemaRefs>
    <ds:schemaRef ds:uri="http://schemas.microsoft.com/sharepoint/v3/contenttype/forms"/>
  </ds:schemaRefs>
</ds:datastoreItem>
</file>

<file path=customXml/itemProps2.xml><?xml version="1.0" encoding="utf-8"?>
<ds:datastoreItem xmlns:ds="http://schemas.openxmlformats.org/officeDocument/2006/customXml" ds:itemID="{0585E981-8C91-4205-A0C3-C991F42B4C9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2C4C00F4-06E9-43E3-AD97-88A857CEFA82}">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{52143751-3886-40A3-BBA2-B159C8286B23}tf55705232_win32</Template>
  <TotalTime>431</TotalTime>
  <Words>906</Words>
  <Application>Microsoft Office PowerPoint</Application>
  <PresentationFormat>Widescreen</PresentationFormat>
  <Paragraphs>87</Paragraphs>
  <Slides>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Arial</vt:lpstr>
      <vt:lpstr>Calibri</vt:lpstr>
      <vt:lpstr>Goudy Old Style</vt:lpstr>
      <vt:lpstr>Wingdings</vt:lpstr>
      <vt:lpstr>Wingdings 2</vt:lpstr>
      <vt:lpstr>SlateVTI</vt:lpstr>
      <vt:lpstr>Terminal Based Process RPG</vt:lpstr>
      <vt:lpstr>Introduction :</vt:lpstr>
      <vt:lpstr>Game Mechanics (Process Battle Simulator) :</vt:lpstr>
      <vt:lpstr>Core Functionalities and Outcome:</vt:lpstr>
      <vt:lpstr>Implementation:</vt:lpstr>
      <vt:lpstr>Game Mechanics : Process Actions :</vt:lpstr>
      <vt:lpstr>Game Mechanics : Moving:</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Sarvesh Ram Kumar</dc:creator>
  <cp:lastModifiedBy>Sarvesh Ram Kumar</cp:lastModifiedBy>
  <cp:revision>65</cp:revision>
  <dcterms:created xsi:type="dcterms:W3CDTF">2025-08-19T10:01:21Z</dcterms:created>
  <dcterms:modified xsi:type="dcterms:W3CDTF">2025-10-06T12:09:22Z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